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 SLIDE 1.1 | HOOK / TITLE</a:t>
            </a:r>
          </a:p>
          <a:p>
            <a:r>
              <a:t>Timing: 0:00–1:00</a:t>
            </a:r>
          </a:p>
          <a:p/>
          <a:p>
            <a:r>
              <a:t>Speaker script:</a:t>
            </a:r>
          </a:p>
          <a:p>
            <a:r>
              <a:t>“Raise your hand if you’ve used ChatGPT today. Now imagine an AI that does more than answer. It can work toward a goal, use approved tools, inspect what happened, and decide what to do next. Today we cross the bridge from AI that talks to AI that acts.”</a:t>
            </a:r>
          </a:p>
          <a:p/>
          <a:p>
            <a:r>
              <a:t>Engagement: Ask participants to name one repetitive task they would delegate to a trustworthy assistant. Take two quick answers.</a:t>
            </a:r>
          </a:p>
          <a:p/>
          <a:p>
            <a:r>
              <a:t>Transition: “To understand what makes an agent different, let’s unpack its core traits.”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 SLIDE 1.2 | THE FORMULA</a:t>
            </a:r>
          </a:p>
          <a:p>
            <a:r>
              <a:t>Timing: 1:00–3:00</a:t>
            </a:r>
          </a:p>
          <a:p/>
          <a:p>
            <a:r>
              <a:t>Speaker script:</a:t>
            </a:r>
          </a:p>
          <a:p>
            <a:r>
              <a:t>“An agent is often described as goal-driven, autonomous, reactive, and proactive. Goal-driven means there is an outcome to pursue. Autonomy means it can select some steps without asking at every moment. Reactivity means it can respond to a new input or result. Proactivity means it can identify a useful next step rather than only wait for another prompt. These are design dimensions, not magic properties: we decide how much freedom is appropriate.”</a:t>
            </a:r>
          </a:p>
          <a:p/>
          <a:p>
            <a:r>
              <a:t>Live poll: Ask which trait is hardest to build: goal clarity, autonomy, reactivity, or proactivity. Ask one person why.</a:t>
            </a:r>
          </a:p>
          <a:p/>
          <a:p>
            <a:r>
              <a:t>Transition: “Let’s contrast an ordinary generative AI interaction with a system that can continue acting.”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 SLIDE 1.3 | GENERATIVE AI: REACTIVE SYSTEM</a:t>
            </a:r>
          </a:p>
          <a:p>
            <a:r>
              <a:t>Timing: 3:00–5:00</a:t>
            </a:r>
          </a:p>
          <a:p/>
          <a:p>
            <a:r>
              <a:t>Speaker script:</a:t>
            </a:r>
          </a:p>
          <a:p>
            <a:r>
              <a:t>“Think of generative AI like a vending machine: you provide a prompt and receive an output. The output may be excellent, but the basic interaction ends there. An agent adds a loop: it can observe the result of an action, decide whether it has reached the goal, and continue if needed. In a real system, that loop should have limits, permissions, and a clear stop condition.”</a:t>
            </a:r>
          </a:p>
          <a:p/>
          <a:p>
            <a:r>
              <a:t>Ask: “Which limitation would you most like to overcome—no follow-up, no tool use, or no task-specific memory?”</a:t>
            </a:r>
          </a:p>
          <a:p/>
          <a:p>
            <a:r>
              <a:t>Transition: “The quality of the loop depends on more than clever wording. It depends on the information available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 SLIDE 2.1 | THE SHOWDOWN</a:t>
            </a:r>
          </a:p>
          <a:p>
            <a:r>
              <a:t>Timing: 5:00–6:30</a:t>
            </a:r>
          </a:p>
          <a:p/>
          <a:p>
            <a:r>
              <a:t>Speaker script:</a:t>
            </a:r>
          </a:p>
          <a:p>
            <a:r>
              <a:t>“For a long time, people focused on finding the perfect wording. Prompt quality still matters, but an agent also needs the right information at the right time. Context engineering considers the complete context available to the model: instructions, retrieved documents, tool results, relevant memory, and the state of the task. It is less about a magic phrase and more about building the environment the model operates in.”</a:t>
            </a:r>
          </a:p>
          <a:p/>
          <a:p>
            <a:r>
              <a:t>Ask: “If an assistant gives the wrong answer because it lacks your latest project data, is that primarily a wording problem or an information-flow problem?”</a:t>
            </a:r>
          </a:p>
          <a:p/>
          <a:p>
            <a:r>
              <a:t>Transition: “Let’s make the contrast tangible.”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 SLIDES 2.2–2.3 | OLD WAY / NEW WAY</a:t>
            </a:r>
          </a:p>
          <a:p>
            <a:r>
              <a:t>Timing: 6:30–10:00 (includes a short demo)</a:t>
            </a:r>
          </a:p>
          <a:p/>
          <a:p>
            <a:r>
              <a:t>Speaker script:</a:t>
            </a:r>
          </a:p>
          <a:p>
            <a:r>
              <a:t>“Prompt engineering is like writing a letter: the wording matters, but the letter cannot magically contain facts you never supplied. Context engineering is like running a live newsroom. It gathers relevant information, checks freshness, and gives the model the pieces it needs now.”</a:t>
            </a:r>
          </a:p>
          <a:p/>
          <a:p>
            <a:r>
              <a:t>Live demo (about 90 seconds):</a:t>
            </a:r>
          </a:p>
          <a:p>
            <a:r>
              <a:t>1. Ask: “Summarise the status of Project Atlas and list blockers.” Give no project context; point out the model should not invent missing facts.</a:t>
            </a:r>
          </a:p>
          <a:p>
            <a:r>
              <a:t>2. Add a short fictional project status note and a mock tool result.</a:t>
            </a:r>
          </a:p>
          <a:p>
            <a:r>
              <a:t>3. Ask the same question again. Highlight how the answer can become grounded and specific.</a:t>
            </a:r>
          </a:p>
          <a:p/>
          <a:p>
            <a:r>
              <a:t>Important teaching point: Retrieved or tool-provided content must still be checked for relevance and trustworthiness.</a:t>
            </a:r>
          </a:p>
          <a:p/>
          <a:p>
            <a:r>
              <a:t>Transition: “Now that we know the agent needs a purpose and useful context, let’s give it a soul and a brain.”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 SLIDE 3.1 | STEP 1: THE SOUL (SYSTEM PROMPT)</a:t>
            </a:r>
          </a:p>
          <a:p>
            <a:r>
              <a:t>Timing: 10:00–12:00</a:t>
            </a:r>
          </a:p>
          <a:p/>
          <a:p>
            <a:r>
              <a:t>Speaker script:</a:t>
            </a:r>
          </a:p>
          <a:p>
            <a:r>
              <a:t>“Imagine hiring a teammate and saying only, ‘Do research.’ Would they know the goal, sources, or quality bar? An agent needs the same clarity. Its system prompt is an operating brief: what outcome it owns, which tools it may use, and which rules it must follow. Notice that we are not hunting for magic words; we are reducing ambiguity.”</a:t>
            </a:r>
          </a:p>
          <a:p/>
          <a:p>
            <a:r>
              <a:t>Audience activity: Give everyone 30 seconds to write a two-line system prompt for a sales assistant, coding helper, or study coach. Invite two or three people to share. Ask: “What rule would prevent your agent from making a harmful or unsupported decision?”</a:t>
            </a:r>
          </a:p>
          <a:p/>
          <a:p>
            <a:r>
              <a:t>Transition: “Purpose gives direction. Next, the model provides the reasoning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 SLIDE 3.2 | STEP 2: THE BRAIN (LLM)</a:t>
            </a:r>
          </a:p>
          <a:p>
            <a:r>
              <a:t>Timing: 12:00–14:00</a:t>
            </a:r>
          </a:p>
          <a:p/>
          <a:p>
            <a:r>
              <a:t>Speaker script:</a:t>
            </a:r>
          </a:p>
          <a:p>
            <a:r>
              <a:t>“The system prompt defines the job; the model interprets the request, reasons over context, plans possible steps, and can select a tool call. The model is only one part of the system. Context supplies information; tools let the agent interact with other systems; tool results become new context for the next step.”</a:t>
            </a:r>
          </a:p>
          <a:p/>
          <a:p>
            <a:r>
              <a:t>When choosing a model, evaluate instruction following, planning, tool use, context handling, cost, latency, and privacy on representative tasks. Do not select solely by brand name.</a:t>
            </a:r>
          </a:p>
          <a:p/>
          <a:p>
            <a:r>
              <a:t>Quick check: “If the goal is clear but the agent repeatedly chooses the wrong next action, what would you inspect: instructions, model, context, or tools?” Invite one answer and reasoning.</a:t>
            </a:r>
          </a:p>
          <a:p/>
          <a:p>
            <a:r>
              <a:t>Transition: “Once an agent has a brain and hands, the plumbing becomes more complicated—which is why frameworks exist.”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 SLIDE 4.1 | THE HIDDEN PLUMBING</a:t>
            </a:r>
          </a:p>
          <a:p>
            <a:r>
              <a:t>Timing: 14:00–15:30</a:t>
            </a:r>
          </a:p>
          <a:p/>
          <a:p>
            <a:r>
              <a:t>Speaker script:</a:t>
            </a:r>
          </a:p>
          <a:p>
            <a:r>
              <a:t>“The first demo of an agent can look deceptively simple: call a model, maybe call a tool, then print the result. Production code needs much more: parsing and validating tool arguments, tracking state, retrieving relevant documents, managing prompts, handling timeouts, and deciding what to do when a step fails. The iceberg is a reminder that the visible loop is only the tip.”</a:t>
            </a:r>
          </a:p>
          <a:p/>
          <a:p>
            <a:r>
              <a:t>Ask for a show of hands: “Who has built a tool-using workflow in plain Python? Which part consumed the most time—error handling, state, or tool integration?”</a:t>
            </a:r>
          </a:p>
          <a:p/>
          <a:p>
            <a:r>
              <a:t>Transition: “The challenge becomes clearer when the workflow needs cycles rather than a single straight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 SLIDE 4.2 | WHY NOT JUST WRITE PYTHON?</a:t>
            </a:r>
          </a:p>
          <a:p>
            <a:r>
              <a:t>Timing: 15:30–17:00</a:t>
            </a:r>
          </a:p>
          <a:p/>
          <a:p>
            <a:r>
              <a:t>Speaker script:</a:t>
            </a:r>
          </a:p>
          <a:p>
            <a:r>
              <a:t>“You can absolutely write an agent in Python. Frameworks become useful when you need to coordinate state, repeated cycles, branching, retries, and tool routing. A graph-based framework such as LangGraph makes nodes and transitions explicit, so a team can inspect the workflow and test it more systematically. A framework is not automatically better: for a tiny, predictable workflow, simple code may be the right choice.”</a:t>
            </a:r>
          </a:p>
          <a:p/>
          <a:p>
            <a:r>
              <a:t>Ask: “Would you use a framework for a one-step FAQ answer? What about a workflow with five tools, retries, and approval gates?”</a:t>
            </a:r>
          </a:p>
          <a:p/>
          <a:p>
            <a:r>
              <a:t>Transition: “One useful pattern is to have a first agent draft and a second pass critique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 SLIDE 5.1 | WRITER–CRITIC MODEL</a:t>
            </a:r>
          </a:p>
          <a:p>
            <a:r>
              <a:t>Timing: 17:00–19:00</a:t>
            </a:r>
          </a:p>
          <a:p/>
          <a:p>
            <a:r>
              <a:t>Speaker script:</a:t>
            </a:r>
          </a:p>
          <a:p>
            <a:r>
              <a:t>“People rarely produce their best work in one pass. The reflection pattern separates drafting from reviewing. The Writer creates the first version; the Critic checks it against the goal and a quality checklist; the Writer then revises. The review should be concrete—accuracy, completeness, evidence, tone—not simply ‘make it better.’”</a:t>
            </a:r>
          </a:p>
          <a:p/>
          <a:p>
            <a:r>
              <a:t>Role-play: In pairs, one person writes a two-sentence product description. The other critiques it using three checks: Is the audience clear? Are claims supported? Is the benefit specific? Then revise once.</a:t>
            </a:r>
          </a:p>
          <a:p/>
          <a:p>
            <a:r>
              <a:t>Transition: “Reflection costs extra calls, so we need to decide when that quality improvement is worth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 SLIDE 5.2 | THE TRADE-OFFS</a:t>
            </a:r>
          </a:p>
          <a:p>
            <a:r>
              <a:t>Timing: 19:00–21:00</a:t>
            </a:r>
          </a:p>
          <a:p/>
          <a:p>
            <a:r>
              <a:t>Speaker script:</a:t>
            </a:r>
          </a:p>
          <a:p>
            <a:r>
              <a:t>“Every reflection pass is another model call, so cost and latency can increase—sometimes substantially. You also need two distinct instructions and orchestration for the loop. Use reflection where quality matters enough to justify it, such as research synthesis or complex drafting. Avoid adding a critic to every trivial request. Always define a maximum number of iterations and a clear stop condition.”</a:t>
            </a:r>
          </a:p>
          <a:p/>
          <a:p>
            <a:r>
              <a:t>Ask: “Where would you spend an extra review call: a casual greeting, a customer-facing email, or a high-stakes analysis? Why?”</a:t>
            </a:r>
          </a:p>
          <a:p/>
          <a:p>
            <a:r>
              <a:t>Transition: “A single agent can be useful, but some problems benefit from specialist roles.”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 SLIDE 6.1 | MULTI-AGENT MEETING ROOM</a:t>
            </a:r>
          </a:p>
          <a:p>
            <a:r>
              <a:t>Timing: 21:00–23:00</a:t>
            </a:r>
          </a:p>
          <a:p/>
          <a:p>
            <a:r>
              <a:t>Speaker script:</a:t>
            </a:r>
          </a:p>
          <a:p>
            <a:r>
              <a:t>“Imagine designing a new software product. A Designer proposes the experience, an Engineer checks feasibility, a Critic looks for weaknesses, and a User Advocate asks whether the feature solves the actual problem. A moderator keeps the group focused and records decisions. This is like a structured meeting, not a guarantee that more agents means a better answer.”</a:t>
            </a:r>
          </a:p>
          <a:p/>
          <a:p>
            <a:r>
              <a:t>Mini case: Ask the room to name one feature for a student study app. Have participants call out one concern from each role. Map the answers into proposal, risk, revision, decision.</a:t>
            </a:r>
          </a:p>
          <a:p/>
          <a:p>
            <a:r>
              <a:t>Teaching note: More agents increase coordination, latency, and cost. Use multiple agents only when specialization or parallel work is valuable.</a:t>
            </a:r>
          </a:p>
          <a:p/>
          <a:p>
            <a:r>
              <a:t>Transition: “Let’s see how this way of thinking maps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 SLIDE 7.1 | REAL-WORLD USE CASES</a:t>
            </a:r>
          </a:p>
          <a:p>
            <a:r>
              <a:t>Timing: 23:00–27:00</a:t>
            </a:r>
          </a:p>
          <a:p/>
          <a:p>
            <a:r>
              <a:t>Speaker script:</a:t>
            </a:r>
          </a:p>
          <a:p>
            <a:r>
              <a:t>“Here are four examples of the pattern. In agriculture, sensor and weather data could inform irrigation recommendations. In disaster response, satellite analysis and verified reports could help prioritize needs. In e-commerce, campaign data could suggest budget adjustments. In scientific research, an agent could search literature and databases, then organize candidate ideas for further investigation. These examples do not mean every action should be fully autonomous—especially where physical safety, money, or health is involved.”</a:t>
            </a:r>
          </a:p>
          <a:p/>
          <a:p>
            <a:r>
              <a:t>Engagement: Ask, “Which industry do you work in or care about? What is one repetitive decision an agent could support?” Give 30 seconds to think, then invite two answers.</a:t>
            </a:r>
          </a:p>
          <a:p/>
          <a:p>
            <a:r>
              <a:t>Safety point: For consequential actions, use permission boundaries, human approval, audit logs, and validation.</a:t>
            </a:r>
          </a:p>
          <a:p/>
          <a:p>
            <a:r>
              <a:t>Transition: “Now zoom out from one agent to the architecture of a whole agentic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 SLIDE 8.1 | AGENT VS AGENTIC AI</a:t>
            </a:r>
          </a:p>
          <a:p>
            <a:r>
              <a:t>Timing: 27:00–29:00</a:t>
            </a:r>
          </a:p>
          <a:p/>
          <a:p>
            <a:r>
              <a:t>Speaker script:</a:t>
            </a:r>
          </a:p>
          <a:p>
            <a:r>
              <a:t>“Building one agent is like building one car: define its role, controls, tools, and tests. Building Agentic AI is like designing the traffic system: how components communicate, how work is routed, how shared state is maintained, and what happens when agents disagree or fail. At system level, security, observability, cost controls, and end-to-end evaluation become central.”</a:t>
            </a:r>
          </a:p>
          <a:p/>
          <a:p>
            <a:r>
              <a:t>Ask: “What could go wrong if two agents update the same record without coordination?”</a:t>
            </a:r>
          </a:p>
          <a:p/>
          <a:p>
            <a:r>
              <a:t>Transition: “We’ve given our system a purpose, reasoning, tools, and coordination. The final step is enterprise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 SLIDE 9.1 | ENTERPRISE DISCIPLINE</a:t>
            </a:r>
          </a:p>
          <a:p>
            <a:r>
              <a:t>Timing: 29:00–32:00</a:t>
            </a:r>
          </a:p>
          <a:p/>
          <a:p>
            <a:r>
              <a:t>Speaker script:</a:t>
            </a:r>
          </a:p>
          <a:p>
            <a:r>
              <a:t>“We’ve given the agent a purpose through its instructions and context, a reasoning engine, hands through tools, and a voice through interfaces and protocols. In a professional environment, that is only the start. We need testing, deployment controls, monitoring, access boundaries, data protection, traceability, and governance. The real question is not simply whether we can build an agent; it is whether we can operate it responsibly.”</a:t>
            </a:r>
          </a:p>
          <a:p/>
          <a:p>
            <a:r>
              <a:t>Invite one or two questions. If no questions arrive, ask: “Which is the biggest risk in your environment—incorrect answers, unsafe actions, privacy, or lack of visibility?”</a:t>
            </a:r>
          </a:p>
          <a:p/>
          <a:p>
            <a:r>
              <a:t>Transition: “Let’s finish with one action you can take this week.”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 SLIDE 9.2 | TAKEAWAY CARD</a:t>
            </a:r>
          </a:p>
          <a:p>
            <a:r>
              <a:t>Timing: 32:00–33:00</a:t>
            </a:r>
          </a:p>
          <a:p/>
          <a:p>
            <a:r>
              <a:t>Speaker script:</a:t>
            </a:r>
          </a:p>
          <a:p>
            <a:r>
              <a:t>“Your homework is simple: choose one task you repeat, write a two-sentence system prompt, and test it on one realistic example. Be explicit about the outcome, the information or tools it may use, and when it should ask for help. Bring the prompt and result to our next session. Start small, measure the result, and improve from evidence.”</a:t>
            </a:r>
          </a:p>
          <a:p/>
          <a:p>
            <a:r>
              <a:t>Closing question: “What task will you try first?” Pause for a few responses.</a:t>
            </a:r>
          </a:p>
          <a:p/>
          <a:p>
            <a:r>
              <a:t>End: Thank the audience and invite follow-up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1  /  THE BIG PICTURE</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It’s not just an LLM. It’s not just a script.</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Today: cross the bridge from AI that talks to AI that acts.</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1</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148840"/>
            <a:ext cx="3840480" cy="2468880"/>
          </a:xfrm>
          <a:prstGeom prst="roundRect">
            <a:avLst/>
          </a:prstGeom>
          <a:solidFill>
            <a:srgbClr val="0F1D3E"/>
          </a:solidFill>
          <a:ln w="15240">
            <a:solidFill>
              <a:srgbClr val="55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95144"/>
            <a:ext cx="3511296" cy="274320"/>
          </a:xfrm>
          <a:prstGeom prst="rect">
            <a:avLst/>
          </a:prstGeom>
          <a:noFill/>
        </p:spPr>
        <p:txBody>
          <a:bodyPr wrap="square" lIns="54864" rIns="54864" tIns="54864" bIns="54864" anchor="t">
            <a:spAutoFit/>
          </a:bodyPr>
          <a:lstStyle/>
          <a:p>
            <a:pPr>
              <a:spcAft>
                <a:spcPts val="500"/>
              </a:spcAft>
              <a:defRPr sz="1600" b="1">
                <a:solidFill>
                  <a:srgbClr val="5591FF"/>
                </a:solidFill>
                <a:latin typeface="Aptos"/>
              </a:defRPr>
            </a:pPr>
            <a:r>
              <a:t>GENERATIVE AI</a:t>
            </a:r>
          </a:p>
        </p:txBody>
      </p:sp>
      <p:sp>
        <p:nvSpPr>
          <p:cNvPr id="9" name="TextBox 8"/>
          <p:cNvSpPr txBox="1"/>
          <p:nvPr/>
        </p:nvSpPr>
        <p:spPr>
          <a:xfrm>
            <a:off x="804671" y="2651760"/>
            <a:ext cx="3511296" cy="1874520"/>
          </a:xfrm>
          <a:prstGeom prst="rect">
            <a:avLst/>
          </a:prstGeom>
          <a:noFill/>
        </p:spPr>
        <p:txBody>
          <a:bodyPr wrap="square" lIns="54864" rIns="54864" tIns="54864" bIns="54864" anchor="t">
            <a:spAutoFit/>
          </a:bodyPr>
          <a:lstStyle/>
          <a:p>
            <a:pPr>
              <a:spcAft>
                <a:spcPts val="500"/>
              </a:spcAft>
              <a:defRPr sz="1600" b="0">
                <a:solidFill>
                  <a:srgbClr val="F6F8FF"/>
                </a:solidFill>
                <a:latin typeface="Aptos"/>
              </a:defRPr>
            </a:pPr>
            <a:r>
              <a:t>Prompt in</a:t>
            </a:r>
          </a:p>
          <a:p>
            <a:pPr>
              <a:spcAft>
                <a:spcPts val="500"/>
              </a:spcAft>
              <a:defRPr sz="1600" b="0">
                <a:solidFill>
                  <a:srgbClr val="F6F8FF"/>
                </a:solidFill>
                <a:latin typeface="Aptos"/>
              </a:defRPr>
            </a:pPr>
            <a:r>
              <a:t>↓</a:t>
            </a:r>
          </a:p>
          <a:p>
            <a:pPr>
              <a:spcAft>
                <a:spcPts val="500"/>
              </a:spcAft>
              <a:defRPr sz="1600" b="0">
                <a:solidFill>
                  <a:srgbClr val="F6F8FF"/>
                </a:solidFill>
                <a:latin typeface="Aptos"/>
              </a:defRPr>
            </a:pPr>
            <a:r>
              <a:t>Answer out</a:t>
            </a:r>
          </a:p>
          <a:p>
            <a:pPr>
              <a:spcAft>
                <a:spcPts val="500"/>
              </a:spcAft>
              <a:defRPr sz="1600" b="0">
                <a:solidFill>
                  <a:srgbClr val="F6F8FF"/>
                </a:solidFill>
                <a:latin typeface="Aptos"/>
              </a:defRPr>
            </a:pPr>
          </a:p>
          <a:p>
            <a:pPr>
              <a:spcAft>
                <a:spcPts val="500"/>
              </a:spcAft>
              <a:defRPr sz="1600" b="0">
                <a:solidFill>
                  <a:srgbClr val="F6F8FF"/>
                </a:solidFill>
                <a:latin typeface="Aptos"/>
              </a:defRPr>
            </a:pPr>
            <a:r>
              <a:t>Helpful—but often stops at generation.</a:t>
            </a:r>
          </a:p>
        </p:txBody>
      </p:sp>
      <p:sp>
        <p:nvSpPr>
          <p:cNvPr id="10" name="Rounded Rectangle 9"/>
          <p:cNvSpPr/>
          <p:nvPr/>
        </p:nvSpPr>
        <p:spPr>
          <a:xfrm>
            <a:off x="7726679" y="2148840"/>
            <a:ext cx="3840480" cy="246888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91271" y="2295144"/>
            <a:ext cx="3511296" cy="274320"/>
          </a:xfrm>
          <a:prstGeom prst="rect">
            <a:avLst/>
          </a:prstGeom>
          <a:noFill/>
        </p:spPr>
        <p:txBody>
          <a:bodyPr wrap="square" lIns="54864" rIns="54864" tIns="54864" bIns="54864" anchor="t">
            <a:spAutoFit/>
          </a:bodyPr>
          <a:lstStyle/>
          <a:p>
            <a:pPr>
              <a:spcAft>
                <a:spcPts val="500"/>
              </a:spcAft>
              <a:defRPr sz="1600" b="1">
                <a:solidFill>
                  <a:srgbClr val="37DCF4"/>
                </a:solidFill>
                <a:latin typeface="Aptos"/>
              </a:defRPr>
            </a:pPr>
            <a:r>
              <a:t>AI AGENT</a:t>
            </a:r>
          </a:p>
        </p:txBody>
      </p:sp>
      <p:sp>
        <p:nvSpPr>
          <p:cNvPr id="12" name="TextBox 11"/>
          <p:cNvSpPr txBox="1"/>
          <p:nvPr/>
        </p:nvSpPr>
        <p:spPr>
          <a:xfrm>
            <a:off x="7891271" y="2651760"/>
            <a:ext cx="3511296" cy="1874520"/>
          </a:xfrm>
          <a:prstGeom prst="rect">
            <a:avLst/>
          </a:prstGeom>
          <a:noFill/>
        </p:spPr>
        <p:txBody>
          <a:bodyPr wrap="square" lIns="54864" rIns="54864" tIns="54864" bIns="54864" anchor="t">
            <a:spAutoFit/>
          </a:bodyPr>
          <a:lstStyle/>
          <a:p>
            <a:pPr>
              <a:spcAft>
                <a:spcPts val="500"/>
              </a:spcAft>
              <a:defRPr sz="1600" b="0">
                <a:solidFill>
                  <a:srgbClr val="F6F8FF"/>
                </a:solidFill>
                <a:latin typeface="Aptos"/>
              </a:defRPr>
            </a:pPr>
            <a:r>
              <a:t>Goal</a:t>
            </a:r>
          </a:p>
          <a:p>
            <a:pPr>
              <a:spcAft>
                <a:spcPts val="500"/>
              </a:spcAft>
              <a:defRPr sz="1600" b="0">
                <a:solidFill>
                  <a:srgbClr val="F6F8FF"/>
                </a:solidFill>
                <a:latin typeface="Aptos"/>
              </a:defRPr>
            </a:pPr>
            <a:r>
              <a:t>↓</a:t>
            </a:r>
          </a:p>
          <a:p>
            <a:pPr>
              <a:spcAft>
                <a:spcPts val="500"/>
              </a:spcAft>
              <a:defRPr sz="1600" b="0">
                <a:solidFill>
                  <a:srgbClr val="F6F8FF"/>
                </a:solidFill>
                <a:latin typeface="Aptos"/>
              </a:defRPr>
            </a:pPr>
            <a:r>
              <a:t>Reason + use tools</a:t>
            </a:r>
          </a:p>
          <a:p>
            <a:pPr>
              <a:spcAft>
                <a:spcPts val="500"/>
              </a:spcAft>
              <a:defRPr sz="1600" b="0">
                <a:solidFill>
                  <a:srgbClr val="F6F8FF"/>
                </a:solidFill>
                <a:latin typeface="Aptos"/>
              </a:defRPr>
            </a:pPr>
            <a:r>
              <a:t>↓</a:t>
            </a:r>
          </a:p>
          <a:p>
            <a:pPr>
              <a:spcAft>
                <a:spcPts val="500"/>
              </a:spcAft>
              <a:defRPr sz="1600" b="0">
                <a:solidFill>
                  <a:srgbClr val="F6F8FF"/>
                </a:solidFill>
                <a:latin typeface="Aptos"/>
              </a:defRPr>
            </a:pPr>
            <a:r>
              <a:t>Observe result + continue</a:t>
            </a:r>
          </a:p>
        </p:txBody>
      </p:sp>
      <p:cxnSp>
        <p:nvCxnSpPr>
          <p:cNvPr id="13" name="Connector 12"/>
          <p:cNvCxnSpPr/>
          <p:nvPr/>
        </p:nvCxnSpPr>
        <p:spPr>
          <a:xfrm>
            <a:off x="4572000" y="3337560"/>
            <a:ext cx="2926079" cy="0"/>
          </a:xfrm>
          <a:prstGeom prst="line">
            <a:avLst/>
          </a:prstGeom>
          <a:ln w="50800">
            <a:solidFill>
              <a:srgbClr val="FFAD4B"/>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5897880" y="2999232"/>
            <a:ext cx="685800" cy="685800"/>
          </a:xfrm>
          <a:prstGeom prst="chevron">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3840480"/>
            <a:ext cx="2103120" cy="320040"/>
          </a:xfrm>
          <a:prstGeom prst="rect">
            <a:avLst/>
          </a:prstGeom>
          <a:noFill/>
        </p:spPr>
        <p:txBody>
          <a:bodyPr wrap="square" lIns="54864" rIns="54864" tIns="54864" bIns="54864" anchor="t">
            <a:spAutoFit/>
          </a:bodyPr>
          <a:lstStyle/>
          <a:p>
            <a:pPr algn="ctr">
              <a:spcAft>
                <a:spcPts val="500"/>
              </a:spcAft>
              <a:defRPr sz="1300" b="1">
                <a:solidFill>
                  <a:srgbClr val="FFAD4B"/>
                </a:solidFill>
                <a:latin typeface="Aptos"/>
              </a:defRPr>
            </a:pPr>
            <a:r>
              <a:t>THE GAP</a:t>
            </a:r>
          </a:p>
        </p:txBody>
      </p:sp>
      <p:sp>
        <p:nvSpPr>
          <p:cNvPr id="16" name="TextBox 15"/>
          <p:cNvSpPr txBox="1"/>
          <p:nvPr/>
        </p:nvSpPr>
        <p:spPr>
          <a:xfrm>
            <a:off x="777240" y="5166360"/>
            <a:ext cx="10698480" cy="457200"/>
          </a:xfrm>
          <a:prstGeom prst="rect">
            <a:avLst/>
          </a:prstGeom>
          <a:noFill/>
        </p:spPr>
        <p:txBody>
          <a:bodyPr wrap="square" lIns="54864" rIns="54864" tIns="54864" bIns="54864" anchor="t">
            <a:spAutoFit/>
          </a:bodyPr>
          <a:lstStyle/>
          <a:p>
            <a:pPr algn="ctr">
              <a:spcAft>
                <a:spcPts val="500"/>
              </a:spcAft>
              <a:defRPr sz="1600" b="1">
                <a:solidFill>
                  <a:srgbClr val="57E2A4"/>
                </a:solidFill>
                <a:latin typeface="Aptos"/>
              </a:defRPr>
            </a:pPr>
            <a:r>
              <a:t>Opening question: “What would you delegate to an AI if you could trust it to take the next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1  /  THE AGENT FORMULA</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An AI agent combines four behaviours</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Use this as a working mental model—not a guarantee that every agent has every trait.</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1</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594360" y="2331720"/>
            <a:ext cx="2514600" cy="201168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63040" y="2578608"/>
            <a:ext cx="731520" cy="731520"/>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761488"/>
            <a:ext cx="731520" cy="274320"/>
          </a:xfrm>
          <a:prstGeom prst="rect">
            <a:avLst/>
          </a:prstGeom>
          <a:noFill/>
        </p:spPr>
        <p:txBody>
          <a:bodyPr wrap="square" lIns="54864" rIns="54864" tIns="54864" bIns="54864" anchor="t">
            <a:spAutoFit/>
          </a:bodyPr>
          <a:lstStyle/>
          <a:p>
            <a:pPr algn="ctr">
              <a:spcAft>
                <a:spcPts val="500"/>
              </a:spcAft>
              <a:defRPr sz="2200" b="1">
                <a:solidFill>
                  <a:srgbClr val="070E23"/>
                </a:solidFill>
                <a:latin typeface="Aptos"/>
              </a:defRPr>
            </a:pPr>
            <a:r>
              <a:t>◎</a:t>
            </a:r>
          </a:p>
        </p:txBody>
      </p:sp>
      <p:sp>
        <p:nvSpPr>
          <p:cNvPr id="10" name="TextBox 9"/>
          <p:cNvSpPr txBox="1"/>
          <p:nvPr/>
        </p:nvSpPr>
        <p:spPr>
          <a:xfrm>
            <a:off x="777240" y="3520440"/>
            <a:ext cx="2148840" cy="274320"/>
          </a:xfrm>
          <a:prstGeom prst="rect">
            <a:avLst/>
          </a:prstGeom>
          <a:noFill/>
        </p:spPr>
        <p:txBody>
          <a:bodyPr wrap="square" lIns="54864" rIns="54864" tIns="54864" bIns="54864" anchor="t">
            <a:spAutoFit/>
          </a:bodyPr>
          <a:lstStyle/>
          <a:p>
            <a:pPr algn="ctr">
              <a:spcAft>
                <a:spcPts val="500"/>
              </a:spcAft>
              <a:defRPr sz="1200" b="1">
                <a:solidFill>
                  <a:srgbClr val="37DCF4"/>
                </a:solidFill>
                <a:latin typeface="Aptos"/>
              </a:defRPr>
            </a:pPr>
            <a:r>
              <a:t>GOAL-DRIVEN</a:t>
            </a:r>
          </a:p>
        </p:txBody>
      </p:sp>
      <p:sp>
        <p:nvSpPr>
          <p:cNvPr id="11" name="TextBox 10"/>
          <p:cNvSpPr txBox="1"/>
          <p:nvPr/>
        </p:nvSpPr>
        <p:spPr>
          <a:xfrm>
            <a:off x="777240" y="3858768"/>
            <a:ext cx="2148840" cy="365760"/>
          </a:xfrm>
          <a:prstGeom prst="rect">
            <a:avLst/>
          </a:prstGeom>
          <a:noFill/>
        </p:spPr>
        <p:txBody>
          <a:bodyPr wrap="square" lIns="54864" rIns="54864" tIns="54864" bIns="54864" anchor="t">
            <a:spAutoFit/>
          </a:bodyPr>
          <a:lstStyle/>
          <a:p>
            <a:pPr algn="ctr">
              <a:spcAft>
                <a:spcPts val="500"/>
              </a:spcAft>
              <a:defRPr sz="1100" b="0">
                <a:solidFill>
                  <a:srgbClr val="F6F8FF"/>
                </a:solidFill>
                <a:latin typeface="Aptos"/>
              </a:defRPr>
            </a:pPr>
            <a:r>
              <a:t>Works toward an outcome</a:t>
            </a:r>
          </a:p>
        </p:txBody>
      </p:sp>
      <p:sp>
        <p:nvSpPr>
          <p:cNvPr id="12" name="TextBox 11"/>
          <p:cNvSpPr txBox="1"/>
          <p:nvPr/>
        </p:nvSpPr>
        <p:spPr>
          <a:xfrm>
            <a:off x="3136391" y="3063240"/>
            <a:ext cx="320040" cy="365760"/>
          </a:xfrm>
          <a:prstGeom prst="rect">
            <a:avLst/>
          </a:prstGeom>
          <a:noFill/>
        </p:spPr>
        <p:txBody>
          <a:bodyPr wrap="square" lIns="54864" rIns="54864" tIns="54864" bIns="54864" anchor="t">
            <a:spAutoFit/>
          </a:bodyPr>
          <a:lstStyle/>
          <a:p>
            <a:pPr algn="ctr">
              <a:spcAft>
                <a:spcPts val="500"/>
              </a:spcAft>
              <a:defRPr sz="2000" b="1">
                <a:solidFill>
                  <a:srgbClr val="F6F8FF"/>
                </a:solidFill>
                <a:latin typeface="Aptos"/>
              </a:defRPr>
            </a:pPr>
            <a:r>
              <a:t>+</a:t>
            </a:r>
          </a:p>
        </p:txBody>
      </p:sp>
      <p:sp>
        <p:nvSpPr>
          <p:cNvPr id="13" name="Rounded Rectangle 12"/>
          <p:cNvSpPr/>
          <p:nvPr/>
        </p:nvSpPr>
        <p:spPr>
          <a:xfrm>
            <a:off x="3502152" y="2331720"/>
            <a:ext cx="2514600" cy="201168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70832" y="2578608"/>
            <a:ext cx="731520" cy="731520"/>
          </a:xfrm>
          <a:prstGeom prst="ellipse">
            <a:avLst/>
          </a:prstGeom>
          <a:solidFill>
            <a:srgbClr val="9D6FFF"/>
          </a:solidFill>
          <a:ln>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0832" y="2761488"/>
            <a:ext cx="731520" cy="274320"/>
          </a:xfrm>
          <a:prstGeom prst="rect">
            <a:avLst/>
          </a:prstGeom>
          <a:noFill/>
        </p:spPr>
        <p:txBody>
          <a:bodyPr wrap="square" lIns="54864" rIns="54864" tIns="54864" bIns="54864" anchor="t">
            <a:spAutoFit/>
          </a:bodyPr>
          <a:lstStyle/>
          <a:p>
            <a:pPr algn="ctr">
              <a:spcAft>
                <a:spcPts val="500"/>
              </a:spcAft>
              <a:defRPr sz="2200" b="1">
                <a:solidFill>
                  <a:srgbClr val="070E23"/>
                </a:solidFill>
                <a:latin typeface="Aptos"/>
              </a:defRPr>
            </a:pPr>
            <a:r>
              <a:t>⌖</a:t>
            </a:r>
          </a:p>
        </p:txBody>
      </p:sp>
      <p:sp>
        <p:nvSpPr>
          <p:cNvPr id="16" name="TextBox 15"/>
          <p:cNvSpPr txBox="1"/>
          <p:nvPr/>
        </p:nvSpPr>
        <p:spPr>
          <a:xfrm>
            <a:off x="3685032" y="3520440"/>
            <a:ext cx="2148840" cy="274320"/>
          </a:xfrm>
          <a:prstGeom prst="rect">
            <a:avLst/>
          </a:prstGeom>
          <a:noFill/>
        </p:spPr>
        <p:txBody>
          <a:bodyPr wrap="square" lIns="54864" rIns="54864" tIns="54864" bIns="54864" anchor="t">
            <a:spAutoFit/>
          </a:bodyPr>
          <a:lstStyle/>
          <a:p>
            <a:pPr algn="ctr">
              <a:spcAft>
                <a:spcPts val="500"/>
              </a:spcAft>
              <a:defRPr sz="1200" b="1">
                <a:solidFill>
                  <a:srgbClr val="9D6FFF"/>
                </a:solidFill>
                <a:latin typeface="Aptos"/>
              </a:defRPr>
            </a:pPr>
            <a:r>
              <a:t>AUTONOMOUS</a:t>
            </a:r>
          </a:p>
        </p:txBody>
      </p:sp>
      <p:sp>
        <p:nvSpPr>
          <p:cNvPr id="17" name="TextBox 16"/>
          <p:cNvSpPr txBox="1"/>
          <p:nvPr/>
        </p:nvSpPr>
        <p:spPr>
          <a:xfrm>
            <a:off x="3685032" y="3858768"/>
            <a:ext cx="2148840" cy="365760"/>
          </a:xfrm>
          <a:prstGeom prst="rect">
            <a:avLst/>
          </a:prstGeom>
          <a:noFill/>
        </p:spPr>
        <p:txBody>
          <a:bodyPr wrap="square" lIns="54864" rIns="54864" tIns="54864" bIns="54864" anchor="t">
            <a:spAutoFit/>
          </a:bodyPr>
          <a:lstStyle/>
          <a:p>
            <a:pPr algn="ctr">
              <a:spcAft>
                <a:spcPts val="500"/>
              </a:spcAft>
              <a:defRPr sz="1100" b="0">
                <a:solidFill>
                  <a:srgbClr val="F6F8FF"/>
                </a:solidFill>
                <a:latin typeface="Aptos"/>
              </a:defRPr>
            </a:pPr>
            <a:r>
              <a:t>Chooses some steps itself</a:t>
            </a:r>
          </a:p>
        </p:txBody>
      </p:sp>
      <p:sp>
        <p:nvSpPr>
          <p:cNvPr id="18" name="TextBox 17"/>
          <p:cNvSpPr txBox="1"/>
          <p:nvPr/>
        </p:nvSpPr>
        <p:spPr>
          <a:xfrm>
            <a:off x="6044183" y="3063240"/>
            <a:ext cx="320040" cy="365760"/>
          </a:xfrm>
          <a:prstGeom prst="rect">
            <a:avLst/>
          </a:prstGeom>
          <a:noFill/>
        </p:spPr>
        <p:txBody>
          <a:bodyPr wrap="square" lIns="54864" rIns="54864" tIns="54864" bIns="54864" anchor="t">
            <a:spAutoFit/>
          </a:bodyPr>
          <a:lstStyle/>
          <a:p>
            <a:pPr algn="ctr">
              <a:spcAft>
                <a:spcPts val="500"/>
              </a:spcAft>
              <a:defRPr sz="2000" b="1">
                <a:solidFill>
                  <a:srgbClr val="F6F8FF"/>
                </a:solidFill>
                <a:latin typeface="Aptos"/>
              </a:defRPr>
            </a:pPr>
            <a:r>
              <a:t>+</a:t>
            </a:r>
          </a:p>
        </p:txBody>
      </p:sp>
      <p:sp>
        <p:nvSpPr>
          <p:cNvPr id="19" name="Rounded Rectangle 18"/>
          <p:cNvSpPr/>
          <p:nvPr/>
        </p:nvSpPr>
        <p:spPr>
          <a:xfrm>
            <a:off x="6409944" y="2331720"/>
            <a:ext cx="2514600" cy="201168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78624" y="2578608"/>
            <a:ext cx="731520" cy="73152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78624" y="2761488"/>
            <a:ext cx="731520" cy="274320"/>
          </a:xfrm>
          <a:prstGeom prst="rect">
            <a:avLst/>
          </a:prstGeom>
          <a:noFill/>
        </p:spPr>
        <p:txBody>
          <a:bodyPr wrap="square" lIns="54864" rIns="54864" tIns="54864" bIns="54864" anchor="t">
            <a:spAutoFit/>
          </a:bodyPr>
          <a:lstStyle/>
          <a:p>
            <a:pPr algn="ctr">
              <a:spcAft>
                <a:spcPts val="500"/>
              </a:spcAft>
              <a:defRPr sz="2200" b="1">
                <a:solidFill>
                  <a:srgbClr val="070E23"/>
                </a:solidFill>
                <a:latin typeface="Aptos"/>
              </a:defRPr>
            </a:pPr>
            <a:r>
              <a:t>ϟ</a:t>
            </a:r>
          </a:p>
        </p:txBody>
      </p:sp>
      <p:sp>
        <p:nvSpPr>
          <p:cNvPr id="22" name="TextBox 21"/>
          <p:cNvSpPr txBox="1"/>
          <p:nvPr/>
        </p:nvSpPr>
        <p:spPr>
          <a:xfrm>
            <a:off x="6592824" y="3520440"/>
            <a:ext cx="2148840" cy="274320"/>
          </a:xfrm>
          <a:prstGeom prst="rect">
            <a:avLst/>
          </a:prstGeom>
          <a:noFill/>
        </p:spPr>
        <p:txBody>
          <a:bodyPr wrap="square" lIns="54864" rIns="54864" tIns="54864" bIns="54864" anchor="t">
            <a:spAutoFit/>
          </a:bodyPr>
          <a:lstStyle/>
          <a:p>
            <a:pPr algn="ctr">
              <a:spcAft>
                <a:spcPts val="500"/>
              </a:spcAft>
              <a:defRPr sz="1200" b="1">
                <a:solidFill>
                  <a:srgbClr val="FFAD4B"/>
                </a:solidFill>
                <a:latin typeface="Aptos"/>
              </a:defRPr>
            </a:pPr>
            <a:r>
              <a:t>REACTIVE</a:t>
            </a:r>
          </a:p>
        </p:txBody>
      </p:sp>
      <p:sp>
        <p:nvSpPr>
          <p:cNvPr id="23" name="TextBox 22"/>
          <p:cNvSpPr txBox="1"/>
          <p:nvPr/>
        </p:nvSpPr>
        <p:spPr>
          <a:xfrm>
            <a:off x="6592824" y="3858768"/>
            <a:ext cx="2148840" cy="365760"/>
          </a:xfrm>
          <a:prstGeom prst="rect">
            <a:avLst/>
          </a:prstGeom>
          <a:noFill/>
        </p:spPr>
        <p:txBody>
          <a:bodyPr wrap="square" lIns="54864" rIns="54864" tIns="54864" bIns="54864" anchor="t">
            <a:spAutoFit/>
          </a:bodyPr>
          <a:lstStyle/>
          <a:p>
            <a:pPr algn="ctr">
              <a:spcAft>
                <a:spcPts val="500"/>
              </a:spcAft>
              <a:defRPr sz="1100" b="0">
                <a:solidFill>
                  <a:srgbClr val="F6F8FF"/>
                </a:solidFill>
                <a:latin typeface="Aptos"/>
              </a:defRPr>
            </a:pPr>
            <a:r>
              <a:t>Responds to new events</a:t>
            </a:r>
          </a:p>
        </p:txBody>
      </p:sp>
      <p:sp>
        <p:nvSpPr>
          <p:cNvPr id="24" name="TextBox 23"/>
          <p:cNvSpPr txBox="1"/>
          <p:nvPr/>
        </p:nvSpPr>
        <p:spPr>
          <a:xfrm>
            <a:off x="8951976" y="3063240"/>
            <a:ext cx="320040" cy="365760"/>
          </a:xfrm>
          <a:prstGeom prst="rect">
            <a:avLst/>
          </a:prstGeom>
          <a:noFill/>
        </p:spPr>
        <p:txBody>
          <a:bodyPr wrap="square" lIns="54864" rIns="54864" tIns="54864" bIns="54864" anchor="t">
            <a:spAutoFit/>
          </a:bodyPr>
          <a:lstStyle/>
          <a:p>
            <a:pPr algn="ctr">
              <a:spcAft>
                <a:spcPts val="500"/>
              </a:spcAft>
              <a:defRPr sz="2000" b="1">
                <a:solidFill>
                  <a:srgbClr val="F6F8FF"/>
                </a:solidFill>
                <a:latin typeface="Aptos"/>
              </a:defRPr>
            </a:pPr>
            <a:r>
              <a:t>+</a:t>
            </a:r>
          </a:p>
        </p:txBody>
      </p:sp>
      <p:sp>
        <p:nvSpPr>
          <p:cNvPr id="25" name="Rounded Rectangle 24"/>
          <p:cNvSpPr/>
          <p:nvPr/>
        </p:nvSpPr>
        <p:spPr>
          <a:xfrm>
            <a:off x="9317736" y="2331720"/>
            <a:ext cx="2514600" cy="201168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186416" y="2578608"/>
            <a:ext cx="731520" cy="731520"/>
          </a:xfrm>
          <a:prstGeom prst="ellipse">
            <a:avLst/>
          </a:prstGeom>
          <a:solidFill>
            <a:srgbClr val="57E2A4"/>
          </a:solidFill>
          <a:ln>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86416" y="2761488"/>
            <a:ext cx="731520" cy="274320"/>
          </a:xfrm>
          <a:prstGeom prst="rect">
            <a:avLst/>
          </a:prstGeom>
          <a:noFill/>
        </p:spPr>
        <p:txBody>
          <a:bodyPr wrap="square" lIns="54864" rIns="54864" tIns="54864" bIns="54864" anchor="t">
            <a:spAutoFit/>
          </a:bodyPr>
          <a:lstStyle/>
          <a:p>
            <a:pPr algn="ctr">
              <a:spcAft>
                <a:spcPts val="500"/>
              </a:spcAft>
              <a:defRPr sz="2200" b="1">
                <a:solidFill>
                  <a:srgbClr val="070E23"/>
                </a:solidFill>
                <a:latin typeface="Aptos"/>
              </a:defRPr>
            </a:pPr>
            <a:r>
              <a:t>↗</a:t>
            </a:r>
          </a:p>
        </p:txBody>
      </p:sp>
      <p:sp>
        <p:nvSpPr>
          <p:cNvPr id="28" name="TextBox 27"/>
          <p:cNvSpPr txBox="1"/>
          <p:nvPr/>
        </p:nvSpPr>
        <p:spPr>
          <a:xfrm>
            <a:off x="9500616" y="3520440"/>
            <a:ext cx="2148840" cy="274320"/>
          </a:xfrm>
          <a:prstGeom prst="rect">
            <a:avLst/>
          </a:prstGeom>
          <a:noFill/>
        </p:spPr>
        <p:txBody>
          <a:bodyPr wrap="square" lIns="54864" rIns="54864" tIns="54864" bIns="54864" anchor="t">
            <a:spAutoFit/>
          </a:bodyPr>
          <a:lstStyle/>
          <a:p>
            <a:pPr algn="ctr">
              <a:spcAft>
                <a:spcPts val="500"/>
              </a:spcAft>
              <a:defRPr sz="1200" b="1">
                <a:solidFill>
                  <a:srgbClr val="57E2A4"/>
                </a:solidFill>
                <a:latin typeface="Aptos"/>
              </a:defRPr>
            </a:pPr>
            <a:r>
              <a:t>PROACTIVE</a:t>
            </a:r>
          </a:p>
        </p:txBody>
      </p:sp>
      <p:sp>
        <p:nvSpPr>
          <p:cNvPr id="29" name="TextBox 28"/>
          <p:cNvSpPr txBox="1"/>
          <p:nvPr/>
        </p:nvSpPr>
        <p:spPr>
          <a:xfrm>
            <a:off x="9500616" y="3858768"/>
            <a:ext cx="2148840" cy="365760"/>
          </a:xfrm>
          <a:prstGeom prst="rect">
            <a:avLst/>
          </a:prstGeom>
          <a:noFill/>
        </p:spPr>
        <p:txBody>
          <a:bodyPr wrap="square" lIns="54864" rIns="54864" tIns="54864" bIns="54864" anchor="t">
            <a:spAutoFit/>
          </a:bodyPr>
          <a:lstStyle/>
          <a:p>
            <a:pPr algn="ctr">
              <a:spcAft>
                <a:spcPts val="500"/>
              </a:spcAft>
              <a:defRPr sz="1100" b="0">
                <a:solidFill>
                  <a:srgbClr val="F6F8FF"/>
                </a:solidFill>
                <a:latin typeface="Aptos"/>
              </a:defRPr>
            </a:pPr>
            <a:r>
              <a:t>Can initiate useful next steps</a:t>
            </a:r>
          </a:p>
        </p:txBody>
      </p:sp>
      <p:sp>
        <p:nvSpPr>
          <p:cNvPr id="30" name="Rounded Rectangle 29"/>
          <p:cNvSpPr/>
          <p:nvPr/>
        </p:nvSpPr>
        <p:spPr>
          <a:xfrm>
            <a:off x="1920240" y="4892040"/>
            <a:ext cx="8366760" cy="658368"/>
          </a:xfrm>
          <a:prstGeom prst="roundRect">
            <a:avLst/>
          </a:prstGeom>
          <a:solidFill>
            <a:srgbClr val="172B53"/>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57400" y="5074920"/>
            <a:ext cx="8092440" cy="228600"/>
          </a:xfrm>
          <a:prstGeom prst="rect">
            <a:avLst/>
          </a:prstGeom>
          <a:noFill/>
        </p:spPr>
        <p:txBody>
          <a:bodyPr wrap="square" lIns="54864" rIns="54864" tIns="54864" bIns="54864" anchor="t">
            <a:spAutoFit/>
          </a:bodyPr>
          <a:lstStyle/>
          <a:p>
            <a:pPr algn="ctr">
              <a:spcAft>
                <a:spcPts val="500"/>
              </a:spcAft>
              <a:defRPr sz="1400" b="1">
                <a:solidFill>
                  <a:srgbClr val="57E2A4"/>
                </a:solidFill>
                <a:latin typeface="Aptos"/>
              </a:defRPr>
            </a:pPr>
            <a:r>
              <a:t>POLL: Which trait is hardest to build reliably?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1  /  GENERATIVE AI VS AGENT LOOP</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A plain LLM call often ends at the answer</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Analogy: a vending machine gives you a snack—but does not check what happened next.</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1</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85800" y="2514600"/>
            <a:ext cx="1828800" cy="1143000"/>
          </a:xfrm>
          <a:prstGeom prst="roundRect">
            <a:avLst/>
          </a:prstGeom>
          <a:solidFill>
            <a:srgbClr val="0F1D3E"/>
          </a:solidFill>
          <a:ln w="15240">
            <a:solidFill>
              <a:srgbClr val="55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724912"/>
            <a:ext cx="1609344" cy="274320"/>
          </a:xfrm>
          <a:prstGeom prst="rect">
            <a:avLst/>
          </a:prstGeom>
          <a:noFill/>
        </p:spPr>
        <p:txBody>
          <a:bodyPr wrap="square" lIns="54864" rIns="54864" tIns="54864" bIns="54864" anchor="t">
            <a:spAutoFit/>
          </a:bodyPr>
          <a:lstStyle/>
          <a:p>
            <a:pPr algn="ctr">
              <a:spcAft>
                <a:spcPts val="500"/>
              </a:spcAft>
              <a:defRPr sz="1300" b="1">
                <a:solidFill>
                  <a:srgbClr val="5591FF"/>
                </a:solidFill>
                <a:latin typeface="Aptos"/>
              </a:defRPr>
            </a:pPr>
            <a:r>
              <a:t>USER</a:t>
            </a:r>
          </a:p>
        </p:txBody>
      </p:sp>
      <p:sp>
        <p:nvSpPr>
          <p:cNvPr id="9" name="TextBox 8"/>
          <p:cNvSpPr txBox="1"/>
          <p:nvPr/>
        </p:nvSpPr>
        <p:spPr>
          <a:xfrm>
            <a:off x="795528" y="3108960"/>
            <a:ext cx="1609344" cy="228600"/>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asks</a:t>
            </a:r>
          </a:p>
        </p:txBody>
      </p:sp>
      <p:cxnSp>
        <p:nvCxnSpPr>
          <p:cNvPr id="10" name="Connector 9"/>
          <p:cNvCxnSpPr/>
          <p:nvPr/>
        </p:nvCxnSpPr>
        <p:spPr>
          <a:xfrm>
            <a:off x="2532888" y="3063240"/>
            <a:ext cx="484632" cy="0"/>
          </a:xfrm>
          <a:prstGeom prst="line">
            <a:avLst/>
          </a:prstGeom>
          <a:ln w="25400">
            <a:solidFill>
              <a:srgbClr val="ABBBD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651760" y="2724912"/>
            <a:ext cx="274320" cy="228600"/>
          </a:xfrm>
          <a:prstGeom prst="rect">
            <a:avLst/>
          </a:prstGeom>
          <a:noFill/>
        </p:spPr>
        <p:txBody>
          <a:bodyPr wrap="square" lIns="54864" rIns="54864" tIns="54864" bIns="54864" anchor="t">
            <a:spAutoFit/>
          </a:bodyPr>
          <a:lstStyle/>
          <a:p>
            <a:pPr algn="ctr">
              <a:spcAft>
                <a:spcPts val="500"/>
              </a:spcAft>
              <a:defRPr sz="2000" b="1">
                <a:solidFill>
                  <a:srgbClr val="FFAD4B"/>
                </a:solidFill>
                <a:latin typeface="Aptos"/>
              </a:defRPr>
            </a:pPr>
            <a:r>
              <a:t>›</a:t>
            </a:r>
          </a:p>
        </p:txBody>
      </p:sp>
      <p:sp>
        <p:nvSpPr>
          <p:cNvPr id="12" name="Rounded Rectangle 11"/>
          <p:cNvSpPr/>
          <p:nvPr/>
        </p:nvSpPr>
        <p:spPr>
          <a:xfrm>
            <a:off x="3108960" y="2514600"/>
            <a:ext cx="1828800" cy="114300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18688" y="2724912"/>
            <a:ext cx="1609344" cy="274320"/>
          </a:xfrm>
          <a:prstGeom prst="rect">
            <a:avLst/>
          </a:prstGeom>
          <a:noFill/>
        </p:spPr>
        <p:txBody>
          <a:bodyPr wrap="square" lIns="54864" rIns="54864" tIns="54864" bIns="54864" anchor="t">
            <a:spAutoFit/>
          </a:bodyPr>
          <a:lstStyle/>
          <a:p>
            <a:pPr algn="ctr">
              <a:spcAft>
                <a:spcPts val="500"/>
              </a:spcAft>
              <a:defRPr sz="1300" b="1">
                <a:solidFill>
                  <a:srgbClr val="9D6FFF"/>
                </a:solidFill>
                <a:latin typeface="Aptos"/>
              </a:defRPr>
            </a:pPr>
            <a:r>
              <a:t>PROMPT</a:t>
            </a:r>
          </a:p>
        </p:txBody>
      </p:sp>
      <p:sp>
        <p:nvSpPr>
          <p:cNvPr id="14" name="TextBox 13"/>
          <p:cNvSpPr txBox="1"/>
          <p:nvPr/>
        </p:nvSpPr>
        <p:spPr>
          <a:xfrm>
            <a:off x="3218688" y="3108960"/>
            <a:ext cx="1609344" cy="228600"/>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instruction</a:t>
            </a:r>
          </a:p>
        </p:txBody>
      </p:sp>
      <p:cxnSp>
        <p:nvCxnSpPr>
          <p:cNvPr id="15" name="Connector 14"/>
          <p:cNvCxnSpPr/>
          <p:nvPr/>
        </p:nvCxnSpPr>
        <p:spPr>
          <a:xfrm>
            <a:off x="4956048" y="3063240"/>
            <a:ext cx="484631" cy="0"/>
          </a:xfrm>
          <a:prstGeom prst="line">
            <a:avLst/>
          </a:prstGeom>
          <a:ln w="25400">
            <a:solidFill>
              <a:srgbClr val="ABBBD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74920" y="2724912"/>
            <a:ext cx="274320" cy="228600"/>
          </a:xfrm>
          <a:prstGeom prst="rect">
            <a:avLst/>
          </a:prstGeom>
          <a:noFill/>
        </p:spPr>
        <p:txBody>
          <a:bodyPr wrap="square" lIns="54864" rIns="54864" tIns="54864" bIns="54864" anchor="t">
            <a:spAutoFit/>
          </a:bodyPr>
          <a:lstStyle/>
          <a:p>
            <a:pPr algn="ctr">
              <a:spcAft>
                <a:spcPts val="500"/>
              </a:spcAft>
              <a:defRPr sz="2000" b="1">
                <a:solidFill>
                  <a:srgbClr val="FFAD4B"/>
                </a:solidFill>
                <a:latin typeface="Aptos"/>
              </a:defRPr>
            </a:pPr>
            <a:r>
              <a:t>›</a:t>
            </a:r>
          </a:p>
        </p:txBody>
      </p:sp>
      <p:sp>
        <p:nvSpPr>
          <p:cNvPr id="17" name="Rounded Rectangle 16"/>
          <p:cNvSpPr/>
          <p:nvPr/>
        </p:nvSpPr>
        <p:spPr>
          <a:xfrm>
            <a:off x="5532120" y="2514600"/>
            <a:ext cx="1828800" cy="114300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41848" y="2724912"/>
            <a:ext cx="1609344" cy="274320"/>
          </a:xfrm>
          <a:prstGeom prst="rect">
            <a:avLst/>
          </a:prstGeom>
          <a:noFill/>
        </p:spPr>
        <p:txBody>
          <a:bodyPr wrap="square" lIns="54864" rIns="54864" tIns="54864" bIns="54864" anchor="t">
            <a:spAutoFit/>
          </a:bodyPr>
          <a:lstStyle/>
          <a:p>
            <a:pPr algn="ctr">
              <a:spcAft>
                <a:spcPts val="500"/>
              </a:spcAft>
              <a:defRPr sz="1300" b="1">
                <a:solidFill>
                  <a:srgbClr val="37DCF4"/>
                </a:solidFill>
                <a:latin typeface="Aptos"/>
              </a:defRPr>
            </a:pPr>
            <a:r>
              <a:t>LLM</a:t>
            </a:r>
          </a:p>
        </p:txBody>
      </p:sp>
      <p:sp>
        <p:nvSpPr>
          <p:cNvPr id="19" name="TextBox 18"/>
          <p:cNvSpPr txBox="1"/>
          <p:nvPr/>
        </p:nvSpPr>
        <p:spPr>
          <a:xfrm>
            <a:off x="5641848" y="3108960"/>
            <a:ext cx="1609344" cy="228600"/>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generates</a:t>
            </a:r>
          </a:p>
        </p:txBody>
      </p:sp>
      <p:cxnSp>
        <p:nvCxnSpPr>
          <p:cNvPr id="20" name="Connector 19"/>
          <p:cNvCxnSpPr/>
          <p:nvPr/>
        </p:nvCxnSpPr>
        <p:spPr>
          <a:xfrm>
            <a:off x="7379208" y="3063240"/>
            <a:ext cx="484632" cy="0"/>
          </a:xfrm>
          <a:prstGeom prst="line">
            <a:avLst/>
          </a:prstGeom>
          <a:ln w="25400">
            <a:solidFill>
              <a:srgbClr val="ABBB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79" y="2724912"/>
            <a:ext cx="274320" cy="228600"/>
          </a:xfrm>
          <a:prstGeom prst="rect">
            <a:avLst/>
          </a:prstGeom>
          <a:noFill/>
        </p:spPr>
        <p:txBody>
          <a:bodyPr wrap="square" lIns="54864" rIns="54864" tIns="54864" bIns="54864" anchor="t">
            <a:spAutoFit/>
          </a:bodyPr>
          <a:lstStyle/>
          <a:p>
            <a:pPr algn="ctr">
              <a:spcAft>
                <a:spcPts val="500"/>
              </a:spcAft>
              <a:defRPr sz="2000" b="1">
                <a:solidFill>
                  <a:srgbClr val="FFAD4B"/>
                </a:solidFill>
                <a:latin typeface="Aptos"/>
              </a:defRPr>
            </a:pPr>
            <a:r>
              <a:t>›</a:t>
            </a:r>
          </a:p>
        </p:txBody>
      </p:sp>
      <p:sp>
        <p:nvSpPr>
          <p:cNvPr id="22" name="Rounded Rectangle 21"/>
          <p:cNvSpPr/>
          <p:nvPr/>
        </p:nvSpPr>
        <p:spPr>
          <a:xfrm>
            <a:off x="7955279" y="2514600"/>
            <a:ext cx="1828800" cy="114300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5007" y="2724912"/>
            <a:ext cx="1609344" cy="274320"/>
          </a:xfrm>
          <a:prstGeom prst="rect">
            <a:avLst/>
          </a:prstGeom>
          <a:noFill/>
        </p:spPr>
        <p:txBody>
          <a:bodyPr wrap="square" lIns="54864" rIns="54864" tIns="54864" bIns="54864" anchor="t">
            <a:spAutoFit/>
          </a:bodyPr>
          <a:lstStyle/>
          <a:p>
            <a:pPr algn="ctr">
              <a:spcAft>
                <a:spcPts val="500"/>
              </a:spcAft>
              <a:defRPr sz="1300" b="1">
                <a:solidFill>
                  <a:srgbClr val="57E2A4"/>
                </a:solidFill>
                <a:latin typeface="Aptos"/>
              </a:defRPr>
            </a:pPr>
            <a:r>
              <a:t>OUTPUT</a:t>
            </a:r>
          </a:p>
        </p:txBody>
      </p:sp>
      <p:sp>
        <p:nvSpPr>
          <p:cNvPr id="24" name="TextBox 23"/>
          <p:cNvSpPr txBox="1"/>
          <p:nvPr/>
        </p:nvSpPr>
        <p:spPr>
          <a:xfrm>
            <a:off x="8065007" y="3108960"/>
            <a:ext cx="1609344" cy="228600"/>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answer</a:t>
            </a:r>
          </a:p>
        </p:txBody>
      </p:sp>
      <p:sp>
        <p:nvSpPr>
          <p:cNvPr id="25" name="Oval 24"/>
          <p:cNvSpPr/>
          <p:nvPr/>
        </p:nvSpPr>
        <p:spPr>
          <a:xfrm>
            <a:off x="10058400" y="2651760"/>
            <a:ext cx="777240" cy="777240"/>
          </a:xfrm>
          <a:prstGeom prst="ellipse">
            <a:avLst/>
          </a:prstGeom>
          <a:solidFill>
            <a:srgbClr val="FF669B"/>
          </a:solidFill>
          <a:ln>
            <a:solidFill>
              <a:srgbClr val="FF6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21240" y="2880360"/>
            <a:ext cx="1051560" cy="228600"/>
          </a:xfrm>
          <a:prstGeom prst="rect">
            <a:avLst/>
          </a:prstGeom>
          <a:noFill/>
        </p:spPr>
        <p:txBody>
          <a:bodyPr wrap="square" lIns="54864" rIns="54864" tIns="54864" bIns="54864" anchor="t">
            <a:spAutoFit/>
          </a:bodyPr>
          <a:lstStyle/>
          <a:p>
            <a:pPr algn="ctr">
              <a:spcAft>
                <a:spcPts val="500"/>
              </a:spcAft>
              <a:defRPr sz="1200" b="1">
                <a:solidFill>
                  <a:srgbClr val="070E23"/>
                </a:solidFill>
                <a:latin typeface="Aptos"/>
              </a:defRPr>
            </a:pPr>
            <a:r>
              <a:t>STOP</a:t>
            </a:r>
          </a:p>
        </p:txBody>
      </p:sp>
      <p:cxnSp>
        <p:nvCxnSpPr>
          <p:cNvPr id="27" name="Connector 26"/>
          <p:cNvCxnSpPr/>
          <p:nvPr/>
        </p:nvCxnSpPr>
        <p:spPr>
          <a:xfrm>
            <a:off x="9802368" y="3063240"/>
            <a:ext cx="210312" cy="0"/>
          </a:xfrm>
          <a:prstGeom prst="line">
            <a:avLst/>
          </a:prstGeom>
          <a:ln w="25400">
            <a:solidFill>
              <a:srgbClr val="FF669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43000" y="4343400"/>
            <a:ext cx="9875520" cy="749808"/>
          </a:xfrm>
          <a:prstGeom prst="roundRect">
            <a:avLst/>
          </a:prstGeom>
          <a:solidFill>
            <a:srgbClr val="172B53"/>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0" y="4553712"/>
            <a:ext cx="9418320" cy="274320"/>
          </a:xfrm>
          <a:prstGeom prst="rect">
            <a:avLst/>
          </a:prstGeom>
          <a:noFill/>
        </p:spPr>
        <p:txBody>
          <a:bodyPr wrap="square" lIns="54864" rIns="54864" tIns="54864" bIns="54864" anchor="t">
            <a:spAutoFit/>
          </a:bodyPr>
          <a:lstStyle/>
          <a:p>
            <a:pPr algn="ctr">
              <a:spcAft>
                <a:spcPts val="500"/>
              </a:spcAft>
              <a:defRPr sz="1500" b="1">
                <a:solidFill>
                  <a:srgbClr val="FFAD4B"/>
                </a:solidFill>
                <a:latin typeface="Aptos"/>
              </a:defRPr>
            </a:pPr>
            <a:r>
              <a:t>AGENT LOOP: observe → reason → act with a tool → inspect result → continue or stop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2  /  THE CRITICAL SHIFT</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Prompt engineering vs context engineering</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The shift is from polishing one instruction to designing the information flow around the model.</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2</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1965960"/>
            <a:ext cx="4983480" cy="3246120"/>
          </a:xfrm>
          <a:prstGeom prst="roundRect">
            <a:avLst/>
          </a:prstGeom>
          <a:solidFill>
            <a:srgbClr val="0F1D3E"/>
          </a:solidFill>
          <a:ln w="15240">
            <a:solidFill>
              <a:srgbClr val="55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112264"/>
            <a:ext cx="4654296" cy="274320"/>
          </a:xfrm>
          <a:prstGeom prst="rect">
            <a:avLst/>
          </a:prstGeom>
          <a:noFill/>
        </p:spPr>
        <p:txBody>
          <a:bodyPr wrap="square" lIns="54864" rIns="54864" tIns="54864" bIns="54864" anchor="t">
            <a:spAutoFit/>
          </a:bodyPr>
          <a:lstStyle/>
          <a:p>
            <a:pPr>
              <a:spcAft>
                <a:spcPts val="500"/>
              </a:spcAft>
              <a:defRPr sz="1600" b="1">
                <a:solidFill>
                  <a:srgbClr val="5591FF"/>
                </a:solidFill>
                <a:latin typeface="Aptos"/>
              </a:defRPr>
            </a:pPr>
            <a:r>
              <a:t>PROMPT ENGINEERING</a:t>
            </a:r>
          </a:p>
        </p:txBody>
      </p:sp>
      <p:sp>
        <p:nvSpPr>
          <p:cNvPr id="9" name="TextBox 8"/>
          <p:cNvSpPr txBox="1"/>
          <p:nvPr/>
        </p:nvSpPr>
        <p:spPr>
          <a:xfrm>
            <a:off x="804671" y="2468880"/>
            <a:ext cx="4654296" cy="265176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ARTIFACT  •  Static instruction</a:t>
            </a:r>
          </a:p>
          <a:p>
            <a:pPr>
              <a:spcAft>
                <a:spcPts val="500"/>
              </a:spcAft>
              <a:defRPr sz="1400" b="0">
                <a:solidFill>
                  <a:srgbClr val="F6F8FF"/>
                </a:solidFill>
                <a:latin typeface="Aptos"/>
              </a:defRPr>
            </a:pPr>
            <a:r>
              <a:t>FOCUS  •  Wording / “magic words”</a:t>
            </a:r>
          </a:p>
          <a:p>
            <a:pPr>
              <a:spcAft>
                <a:spcPts val="500"/>
              </a:spcAft>
              <a:defRPr sz="1400" b="0">
                <a:solidFill>
                  <a:srgbClr val="F6F8FF"/>
                </a:solidFill>
                <a:latin typeface="Aptos"/>
              </a:defRPr>
            </a:pPr>
            <a:r>
              <a:t>SCOPE  •  One prompt</a:t>
            </a:r>
          </a:p>
          <a:p>
            <a:pPr>
              <a:spcAft>
                <a:spcPts val="500"/>
              </a:spcAft>
              <a:defRPr sz="1400" b="0">
                <a:solidFill>
                  <a:srgbClr val="F6F8FF"/>
                </a:solidFill>
                <a:latin typeface="Aptos"/>
              </a:defRPr>
            </a:pPr>
            <a:r>
              <a:t>ROLE  •  Prompt writer</a:t>
            </a:r>
          </a:p>
        </p:txBody>
      </p:sp>
      <p:sp>
        <p:nvSpPr>
          <p:cNvPr id="10" name="Rounded Rectangle 9"/>
          <p:cNvSpPr/>
          <p:nvPr/>
        </p:nvSpPr>
        <p:spPr>
          <a:xfrm>
            <a:off x="6537960" y="1965960"/>
            <a:ext cx="4983480" cy="324612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2552" y="2112264"/>
            <a:ext cx="4654296" cy="274320"/>
          </a:xfrm>
          <a:prstGeom prst="rect">
            <a:avLst/>
          </a:prstGeom>
          <a:noFill/>
        </p:spPr>
        <p:txBody>
          <a:bodyPr wrap="square" lIns="54864" rIns="54864" tIns="54864" bIns="54864" anchor="t">
            <a:spAutoFit/>
          </a:bodyPr>
          <a:lstStyle/>
          <a:p>
            <a:pPr>
              <a:spcAft>
                <a:spcPts val="500"/>
              </a:spcAft>
              <a:defRPr sz="1600" b="1">
                <a:solidFill>
                  <a:srgbClr val="37DCF4"/>
                </a:solidFill>
                <a:latin typeface="Aptos"/>
              </a:defRPr>
            </a:pPr>
            <a:r>
              <a:t>CONTEXT ENGINEERING</a:t>
            </a:r>
          </a:p>
        </p:txBody>
      </p:sp>
      <p:sp>
        <p:nvSpPr>
          <p:cNvPr id="12" name="TextBox 11"/>
          <p:cNvSpPr txBox="1"/>
          <p:nvPr/>
        </p:nvSpPr>
        <p:spPr>
          <a:xfrm>
            <a:off x="6702552" y="2468880"/>
            <a:ext cx="4654296" cy="265176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ARTIFACT  •  Dynamic system</a:t>
            </a:r>
          </a:p>
          <a:p>
            <a:pPr>
              <a:spcAft>
                <a:spcPts val="500"/>
              </a:spcAft>
              <a:defRPr sz="1400" b="0">
                <a:solidFill>
                  <a:srgbClr val="F6F8FF"/>
                </a:solidFill>
                <a:latin typeface="Aptos"/>
              </a:defRPr>
            </a:pPr>
            <a:r>
              <a:t>FOCUS  •  Information flow</a:t>
            </a:r>
          </a:p>
          <a:p>
            <a:pPr>
              <a:spcAft>
                <a:spcPts val="500"/>
              </a:spcAft>
              <a:defRPr sz="1400" b="0">
                <a:solidFill>
                  <a:srgbClr val="F6F8FF"/>
                </a:solidFill>
                <a:latin typeface="Aptos"/>
              </a:defRPr>
            </a:pPr>
            <a:r>
              <a:t>SCOPE  •  Prompt + RAG + tools + memory</a:t>
            </a:r>
          </a:p>
          <a:p>
            <a:pPr>
              <a:spcAft>
                <a:spcPts val="500"/>
              </a:spcAft>
              <a:defRPr sz="1400" b="0">
                <a:solidFill>
                  <a:srgbClr val="F6F8FF"/>
                </a:solidFill>
                <a:latin typeface="Aptos"/>
              </a:defRPr>
            </a:pPr>
            <a:r>
              <a:t>ROLE  •  Information architect</a:t>
            </a:r>
          </a:p>
        </p:txBody>
      </p:sp>
      <p:sp>
        <p:nvSpPr>
          <p:cNvPr id="13" name="Oval 12"/>
          <p:cNvSpPr/>
          <p:nvPr/>
        </p:nvSpPr>
        <p:spPr>
          <a:xfrm>
            <a:off x="5596128" y="2971800"/>
            <a:ext cx="822960" cy="82296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96128" y="3209544"/>
            <a:ext cx="822960" cy="228600"/>
          </a:xfrm>
          <a:prstGeom prst="rect">
            <a:avLst/>
          </a:prstGeom>
          <a:noFill/>
        </p:spPr>
        <p:txBody>
          <a:bodyPr wrap="square" lIns="54864" rIns="54864" tIns="54864" bIns="54864" anchor="t">
            <a:spAutoFit/>
          </a:bodyPr>
          <a:lstStyle/>
          <a:p>
            <a:pPr algn="ctr">
              <a:spcAft>
                <a:spcPts val="500"/>
              </a:spcAft>
              <a:defRPr sz="1500" b="1">
                <a:solidFill>
                  <a:srgbClr val="070E23"/>
                </a:solidFill>
                <a:latin typeface="Aptos"/>
              </a:defRPr>
            </a:pPr>
            <a:r>
              <a:t>VS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2  /  FROM STATIC TO STATEFUL</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A prompt is a letter. Context is a live newsroom.</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Same task; different information available at decision time.</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2</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103120"/>
            <a:ext cx="4892040" cy="2514600"/>
          </a:xfrm>
          <a:prstGeom prst="roundRect">
            <a:avLst/>
          </a:prstGeom>
          <a:solidFill>
            <a:srgbClr val="0F1D3E"/>
          </a:solidFill>
          <a:ln w="15240">
            <a:solidFill>
              <a:srgbClr val="55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49424"/>
            <a:ext cx="4562855" cy="274320"/>
          </a:xfrm>
          <a:prstGeom prst="rect">
            <a:avLst/>
          </a:prstGeom>
          <a:noFill/>
        </p:spPr>
        <p:txBody>
          <a:bodyPr wrap="square" lIns="54864" rIns="54864" tIns="54864" bIns="54864" anchor="t">
            <a:spAutoFit/>
          </a:bodyPr>
          <a:lstStyle/>
          <a:p>
            <a:pPr>
              <a:spcAft>
                <a:spcPts val="500"/>
              </a:spcAft>
              <a:defRPr sz="1500" b="1">
                <a:solidFill>
                  <a:srgbClr val="5591FF"/>
                </a:solidFill>
                <a:latin typeface="Aptos"/>
              </a:defRPr>
            </a:pPr>
            <a:r>
              <a:t>OLD WAY  /  STATIC</a:t>
            </a:r>
          </a:p>
        </p:txBody>
      </p:sp>
      <p:sp>
        <p:nvSpPr>
          <p:cNvPr id="9" name="TextBox 8"/>
          <p:cNvSpPr txBox="1"/>
          <p:nvPr/>
        </p:nvSpPr>
        <p:spPr>
          <a:xfrm>
            <a:off x="804671" y="2606039"/>
            <a:ext cx="4562855" cy="1920240"/>
          </a:xfrm>
          <a:prstGeom prst="rect">
            <a:avLst/>
          </a:prstGeom>
          <a:noFill/>
        </p:spPr>
        <p:txBody>
          <a:bodyPr wrap="square" lIns="54864" rIns="54864" tIns="54864" bIns="54864" anchor="t">
            <a:spAutoFit/>
          </a:bodyPr>
          <a:lstStyle/>
          <a:p>
            <a:pPr>
              <a:spcAft>
                <a:spcPts val="500"/>
              </a:spcAft>
              <a:defRPr sz="1500" b="0">
                <a:solidFill>
                  <a:srgbClr val="F6F8FF"/>
                </a:solidFill>
                <a:latin typeface="Aptos"/>
              </a:defRPr>
            </a:pPr>
            <a:r>
              <a:t>One instruction</a:t>
            </a:r>
          </a:p>
          <a:p>
            <a:pPr>
              <a:spcAft>
                <a:spcPts val="500"/>
              </a:spcAft>
              <a:defRPr sz="1500" b="0">
                <a:solidFill>
                  <a:srgbClr val="F6F8FF"/>
                </a:solidFill>
                <a:latin typeface="Aptos"/>
              </a:defRPr>
            </a:pPr>
            <a:r>
              <a:t>One-shot model call</a:t>
            </a:r>
          </a:p>
          <a:p>
            <a:pPr>
              <a:spcAft>
                <a:spcPts val="500"/>
              </a:spcAft>
              <a:defRPr sz="1500" b="0">
                <a:solidFill>
                  <a:srgbClr val="F6F8FF"/>
                </a:solidFill>
                <a:latin typeface="Aptos"/>
              </a:defRPr>
            </a:pPr>
            <a:r>
              <a:t>Little task state</a:t>
            </a:r>
          </a:p>
          <a:p>
            <a:pPr>
              <a:spcAft>
                <a:spcPts val="500"/>
              </a:spcAft>
              <a:defRPr sz="1500" b="0">
                <a:solidFill>
                  <a:srgbClr val="F6F8FF"/>
                </a:solidFill>
                <a:latin typeface="Aptos"/>
              </a:defRPr>
            </a:pPr>
            <a:r>
              <a:t>Result may be generic</a:t>
            </a:r>
          </a:p>
        </p:txBody>
      </p:sp>
      <p:sp>
        <p:nvSpPr>
          <p:cNvPr id="10" name="Rounded Rectangle 9"/>
          <p:cNvSpPr/>
          <p:nvPr/>
        </p:nvSpPr>
        <p:spPr>
          <a:xfrm>
            <a:off x="6629400" y="2103120"/>
            <a:ext cx="4892040" cy="251460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93992" y="2249424"/>
            <a:ext cx="4562855" cy="274320"/>
          </a:xfrm>
          <a:prstGeom prst="rect">
            <a:avLst/>
          </a:prstGeom>
          <a:noFill/>
        </p:spPr>
        <p:txBody>
          <a:bodyPr wrap="square" lIns="54864" rIns="54864" tIns="54864" bIns="54864" anchor="t">
            <a:spAutoFit/>
          </a:bodyPr>
          <a:lstStyle/>
          <a:p>
            <a:pPr>
              <a:spcAft>
                <a:spcPts val="500"/>
              </a:spcAft>
              <a:defRPr sz="1500" b="1">
                <a:solidFill>
                  <a:srgbClr val="37DCF4"/>
                </a:solidFill>
                <a:latin typeface="Aptos"/>
              </a:defRPr>
            </a:pPr>
            <a:r>
              <a:t>NEW WAY  /  DYNAMIC</a:t>
            </a:r>
          </a:p>
        </p:txBody>
      </p:sp>
      <p:sp>
        <p:nvSpPr>
          <p:cNvPr id="12" name="TextBox 11"/>
          <p:cNvSpPr txBox="1"/>
          <p:nvPr/>
        </p:nvSpPr>
        <p:spPr>
          <a:xfrm>
            <a:off x="6793992" y="2606039"/>
            <a:ext cx="4562855" cy="1920240"/>
          </a:xfrm>
          <a:prstGeom prst="rect">
            <a:avLst/>
          </a:prstGeom>
          <a:noFill/>
        </p:spPr>
        <p:txBody>
          <a:bodyPr wrap="square" lIns="54864" rIns="54864" tIns="54864" bIns="54864" anchor="t">
            <a:spAutoFit/>
          </a:bodyPr>
          <a:lstStyle/>
          <a:p>
            <a:pPr>
              <a:spcAft>
                <a:spcPts val="500"/>
              </a:spcAft>
              <a:defRPr sz="1500" b="0">
                <a:solidFill>
                  <a:srgbClr val="F6F8FF"/>
                </a:solidFill>
                <a:latin typeface="Aptos"/>
              </a:defRPr>
            </a:pPr>
            <a:r>
              <a:t>Task instruction</a:t>
            </a:r>
          </a:p>
          <a:p>
            <a:pPr>
              <a:spcAft>
                <a:spcPts val="500"/>
              </a:spcAft>
              <a:defRPr sz="1500" b="0">
                <a:solidFill>
                  <a:srgbClr val="F6F8FF"/>
                </a:solidFill>
                <a:latin typeface="Aptos"/>
              </a:defRPr>
            </a:pPr>
            <a:r>
              <a:t>Relevant RAG snippet</a:t>
            </a:r>
          </a:p>
          <a:p>
            <a:pPr>
              <a:spcAft>
                <a:spcPts val="500"/>
              </a:spcAft>
              <a:defRPr sz="1500" b="0">
                <a:solidFill>
                  <a:srgbClr val="F6F8FF"/>
                </a:solidFill>
                <a:latin typeface="Aptos"/>
              </a:defRPr>
            </a:pPr>
            <a:r>
              <a:t>Current tool output</a:t>
            </a:r>
          </a:p>
          <a:p>
            <a:pPr>
              <a:spcAft>
                <a:spcPts val="500"/>
              </a:spcAft>
              <a:defRPr sz="1500" b="0">
                <a:solidFill>
                  <a:srgbClr val="F6F8FF"/>
                </a:solidFill>
                <a:latin typeface="Aptos"/>
              </a:defRPr>
            </a:pPr>
            <a:r>
              <a:t>State / memory as needed</a:t>
            </a:r>
          </a:p>
        </p:txBody>
      </p:sp>
      <p:cxnSp>
        <p:nvCxnSpPr>
          <p:cNvPr id="13" name="Connector 12"/>
          <p:cNvCxnSpPr/>
          <p:nvPr/>
        </p:nvCxnSpPr>
        <p:spPr>
          <a:xfrm>
            <a:off x="5623560" y="3337560"/>
            <a:ext cx="868680" cy="0"/>
          </a:xfrm>
          <a:prstGeom prst="line">
            <a:avLst/>
          </a:prstGeom>
          <a:ln w="38100">
            <a:solidFill>
              <a:srgbClr val="FFAD4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5074920"/>
            <a:ext cx="10332720" cy="411480"/>
          </a:xfrm>
          <a:prstGeom prst="rect">
            <a:avLst/>
          </a:prstGeom>
          <a:noFill/>
        </p:spPr>
        <p:txBody>
          <a:bodyPr wrap="square" lIns="54864" rIns="54864" tIns="54864" bIns="54864" anchor="t">
            <a:spAutoFit/>
          </a:bodyPr>
          <a:lstStyle/>
          <a:p>
            <a:pPr algn="ctr">
              <a:spcAft>
                <a:spcPts val="500"/>
              </a:spcAft>
              <a:defRPr sz="1400" b="1">
                <a:solidFill>
                  <a:srgbClr val="57E2A4"/>
                </a:solidFill>
                <a:latin typeface="Aptos"/>
              </a:defRPr>
            </a:pPr>
            <a:r>
              <a:t>DEMO: Ask for a project status with no context → then add a current status note and a tool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3  /  STEP 1 — THE SOUL</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A system prompt is the agent’s operating brief</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Give it a clear goal, approved tools, boundaries, and a definition of success.</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3</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1874519"/>
            <a:ext cx="5943600" cy="342900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21408"/>
            <a:ext cx="539496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EXAMPLE  /  RESEARCH ASSISTANT</a:t>
            </a:r>
          </a:p>
        </p:txBody>
      </p:sp>
      <p:sp>
        <p:nvSpPr>
          <p:cNvPr id="9" name="TextBox 8"/>
          <p:cNvSpPr txBox="1"/>
          <p:nvPr/>
        </p:nvSpPr>
        <p:spPr>
          <a:xfrm>
            <a:off x="914400" y="2542032"/>
            <a:ext cx="5394960" cy="2057400"/>
          </a:xfrm>
          <a:prstGeom prst="rect">
            <a:avLst/>
          </a:prstGeom>
          <a:noFill/>
        </p:spPr>
        <p:txBody>
          <a:bodyPr wrap="square" lIns="54864" rIns="54864" tIns="54864" bIns="54864" anchor="t">
            <a:spAutoFit/>
          </a:bodyPr>
          <a:lstStyle/>
          <a:p>
            <a:pPr>
              <a:spcAft>
                <a:spcPts val="500"/>
              </a:spcAft>
              <a:defRPr sz="1600" b="0">
                <a:solidFill>
                  <a:srgbClr val="F6F8FF"/>
                </a:solidFill>
                <a:latin typeface="Aptos"/>
              </a:defRPr>
            </a:pPr>
            <a:r>
              <a:t>You are a Research Assistant.</a:t>
            </a:r>
          </a:p>
          <a:p>
            <a:pPr>
              <a:spcAft>
                <a:spcPts val="500"/>
              </a:spcAft>
              <a:defRPr sz="1600" b="0">
                <a:solidFill>
                  <a:srgbClr val="F6F8FF"/>
                </a:solidFill>
                <a:latin typeface="Aptos"/>
              </a:defRPr>
            </a:pPr>
            <a:r>
              <a:t>Goal: write a factual report.</a:t>
            </a:r>
          </a:p>
          <a:p>
            <a:pPr>
              <a:spcAft>
                <a:spcPts val="500"/>
              </a:spcAft>
              <a:defRPr sz="1600" b="0">
                <a:solidFill>
                  <a:srgbClr val="F6F8FF"/>
                </a:solidFill>
                <a:latin typeface="Aptos"/>
              </a:defRPr>
            </a:pPr>
            <a:r>
              <a:t>Use the web_search tool to gather evidence.</a:t>
            </a:r>
          </a:p>
          <a:p>
            <a:pPr>
              <a:spcAft>
                <a:spcPts val="500"/>
              </a:spcAft>
              <a:defRPr sz="1600" b="0">
                <a:solidFill>
                  <a:srgbClr val="F6F8FF"/>
                </a:solidFill>
                <a:latin typeface="Aptos"/>
              </a:defRPr>
            </a:pPr>
            <a:r>
              <a:t>Do not rely on memory alone.</a:t>
            </a:r>
          </a:p>
          <a:p>
            <a:pPr>
              <a:spcAft>
                <a:spcPts val="500"/>
              </a:spcAft>
              <a:defRPr sz="1600" b="0">
                <a:solidFill>
                  <a:srgbClr val="F6F8FF"/>
                </a:solidFill>
                <a:latin typeface="Aptos"/>
              </a:defRPr>
            </a:pPr>
            <a:r>
              <a:t>Search → analyse → write, and cite sources.</a:t>
            </a:r>
          </a:p>
        </p:txBody>
      </p:sp>
      <p:sp>
        <p:nvSpPr>
          <p:cNvPr id="10" name="Rounded Rectangle 9"/>
          <p:cNvSpPr/>
          <p:nvPr/>
        </p:nvSpPr>
        <p:spPr>
          <a:xfrm>
            <a:off x="914400" y="4663440"/>
            <a:ext cx="1143000" cy="347472"/>
          </a:xfrm>
          <a:prstGeom prst="roundRect">
            <a:avLst/>
          </a:prstGeom>
          <a:solidFill>
            <a:srgbClr val="172B53"/>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736592"/>
            <a:ext cx="1069848" cy="164592"/>
          </a:xfrm>
          <a:prstGeom prst="rect">
            <a:avLst/>
          </a:prstGeom>
          <a:noFill/>
        </p:spPr>
        <p:txBody>
          <a:bodyPr wrap="square" lIns="54864" rIns="54864" tIns="54864" bIns="54864" anchor="t">
            <a:spAutoFit/>
          </a:bodyPr>
          <a:lstStyle/>
          <a:p>
            <a:pPr algn="ctr">
              <a:spcAft>
                <a:spcPts val="500"/>
              </a:spcAft>
              <a:defRPr sz="900" b="1">
                <a:solidFill>
                  <a:srgbClr val="37DCF4"/>
                </a:solidFill>
                <a:latin typeface="Aptos"/>
              </a:defRPr>
            </a:pPr>
            <a:r>
              <a:t>PURPOSE</a:t>
            </a:r>
          </a:p>
        </p:txBody>
      </p:sp>
      <p:sp>
        <p:nvSpPr>
          <p:cNvPr id="12" name="Rounded Rectangle 11"/>
          <p:cNvSpPr/>
          <p:nvPr/>
        </p:nvSpPr>
        <p:spPr>
          <a:xfrm>
            <a:off x="2221991" y="4663440"/>
            <a:ext cx="1143000" cy="347472"/>
          </a:xfrm>
          <a:prstGeom prst="roundRect">
            <a:avLst/>
          </a:prstGeom>
          <a:solidFill>
            <a:srgbClr val="172B53"/>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58568" y="4736592"/>
            <a:ext cx="1069848" cy="164592"/>
          </a:xfrm>
          <a:prstGeom prst="rect">
            <a:avLst/>
          </a:prstGeom>
          <a:noFill/>
        </p:spPr>
        <p:txBody>
          <a:bodyPr wrap="square" lIns="54864" rIns="54864" tIns="54864" bIns="54864" anchor="t">
            <a:spAutoFit/>
          </a:bodyPr>
          <a:lstStyle/>
          <a:p>
            <a:pPr algn="ctr">
              <a:spcAft>
                <a:spcPts val="500"/>
              </a:spcAft>
              <a:defRPr sz="900" b="1">
                <a:solidFill>
                  <a:srgbClr val="9D6FFF"/>
                </a:solidFill>
                <a:latin typeface="Aptos"/>
              </a:defRPr>
            </a:pPr>
            <a:r>
              <a:t>TOOLS</a:t>
            </a:r>
          </a:p>
        </p:txBody>
      </p:sp>
      <p:sp>
        <p:nvSpPr>
          <p:cNvPr id="14" name="Rounded Rectangle 13"/>
          <p:cNvSpPr/>
          <p:nvPr/>
        </p:nvSpPr>
        <p:spPr>
          <a:xfrm>
            <a:off x="3529584" y="4663440"/>
            <a:ext cx="1143000" cy="347472"/>
          </a:xfrm>
          <a:prstGeom prst="roundRect">
            <a:avLst/>
          </a:prstGeom>
          <a:solidFill>
            <a:srgbClr val="172B53"/>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4736592"/>
            <a:ext cx="1069848" cy="164592"/>
          </a:xfrm>
          <a:prstGeom prst="rect">
            <a:avLst/>
          </a:prstGeom>
          <a:noFill/>
        </p:spPr>
        <p:txBody>
          <a:bodyPr wrap="square" lIns="54864" rIns="54864" tIns="54864" bIns="54864" anchor="t">
            <a:spAutoFit/>
          </a:bodyPr>
          <a:lstStyle/>
          <a:p>
            <a:pPr algn="ctr">
              <a:spcAft>
                <a:spcPts val="500"/>
              </a:spcAft>
              <a:defRPr sz="900" b="1">
                <a:solidFill>
                  <a:srgbClr val="FFAD4B"/>
                </a:solidFill>
                <a:latin typeface="Aptos"/>
              </a:defRPr>
            </a:pPr>
            <a:r>
              <a:t>RULES</a:t>
            </a:r>
          </a:p>
        </p:txBody>
      </p:sp>
      <p:sp>
        <p:nvSpPr>
          <p:cNvPr id="16" name="Rounded Rectangle 15"/>
          <p:cNvSpPr/>
          <p:nvPr/>
        </p:nvSpPr>
        <p:spPr>
          <a:xfrm>
            <a:off x="4837176" y="4663440"/>
            <a:ext cx="1143000" cy="347472"/>
          </a:xfrm>
          <a:prstGeom prst="roundRect">
            <a:avLst/>
          </a:prstGeom>
          <a:solidFill>
            <a:srgbClr val="172B53"/>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3752" y="4736592"/>
            <a:ext cx="1069848" cy="164592"/>
          </a:xfrm>
          <a:prstGeom prst="rect">
            <a:avLst/>
          </a:prstGeom>
          <a:noFill/>
        </p:spPr>
        <p:txBody>
          <a:bodyPr wrap="square" lIns="54864" rIns="54864" tIns="54864" bIns="54864" anchor="t">
            <a:spAutoFit/>
          </a:bodyPr>
          <a:lstStyle/>
          <a:p>
            <a:pPr algn="ctr">
              <a:spcAft>
                <a:spcPts val="500"/>
              </a:spcAft>
              <a:defRPr sz="900" b="1">
                <a:solidFill>
                  <a:srgbClr val="57E2A4"/>
                </a:solidFill>
                <a:latin typeface="Aptos"/>
              </a:defRPr>
            </a:pPr>
            <a:r>
              <a:t>WORKFLOW</a:t>
            </a:r>
          </a:p>
        </p:txBody>
      </p:sp>
      <p:sp>
        <p:nvSpPr>
          <p:cNvPr id="18" name="Rounded Rectangle 17"/>
          <p:cNvSpPr/>
          <p:nvPr/>
        </p:nvSpPr>
        <p:spPr>
          <a:xfrm>
            <a:off x="7955279" y="3063240"/>
            <a:ext cx="2057400" cy="1417320"/>
          </a:xfrm>
          <a:prstGeom prst="roundRect">
            <a:avLst/>
          </a:prstGeom>
          <a:solidFill>
            <a:srgbClr val="172B53"/>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74152" y="2148840"/>
            <a:ext cx="1810512" cy="868680"/>
          </a:xfrm>
          <a:prstGeom prst="roundRect">
            <a:avLst/>
          </a:prstGeom>
          <a:solidFill>
            <a:srgbClr val="172B53"/>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94192" y="2423160"/>
            <a:ext cx="201168" cy="201168"/>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08592" y="2423160"/>
            <a:ext cx="201168" cy="201168"/>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eart 21"/>
          <p:cNvSpPr/>
          <p:nvPr/>
        </p:nvSpPr>
        <p:spPr>
          <a:xfrm>
            <a:off x="8595360" y="3337560"/>
            <a:ext cx="777240" cy="658368"/>
          </a:xfrm>
          <a:prstGeom prst="heart">
            <a:avLst/>
          </a:prstGeom>
          <a:solidFill>
            <a:srgbClr val="FF669B"/>
          </a:solidFill>
          <a:ln>
            <a:solidFill>
              <a:srgbClr val="FF6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4754880"/>
            <a:ext cx="3977639" cy="411480"/>
          </a:xfrm>
          <a:prstGeom prst="rect">
            <a:avLst/>
          </a:prstGeom>
          <a:noFill/>
        </p:spPr>
        <p:txBody>
          <a:bodyPr wrap="square" lIns="54864" rIns="54864" tIns="54864" bIns="54864" anchor="t">
            <a:spAutoFit/>
          </a:bodyPr>
          <a:lstStyle/>
          <a:p>
            <a:pPr algn="ctr">
              <a:spcAft>
                <a:spcPts val="500"/>
              </a:spcAft>
              <a:defRPr sz="1200" b="1">
                <a:solidFill>
                  <a:srgbClr val="FFAD4B"/>
                </a:solidFill>
                <a:latin typeface="Aptos"/>
              </a:defRPr>
            </a:pPr>
            <a:r>
              <a:t>A prompt reduces ambiguity; it does not guarantee correctness.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3  /  STEP 2 — THE BRAIN</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The LLM interprets, plans, and selects actions</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Choose models using task performance—not brand names alone.</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3</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057400"/>
            <a:ext cx="3246120" cy="114300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03704"/>
            <a:ext cx="2916936" cy="274320"/>
          </a:xfrm>
          <a:prstGeom prst="rect">
            <a:avLst/>
          </a:prstGeom>
          <a:noFill/>
        </p:spPr>
        <p:txBody>
          <a:bodyPr wrap="square" lIns="54864" rIns="54864" tIns="54864" bIns="54864" anchor="t">
            <a:spAutoFit/>
          </a:bodyPr>
          <a:lstStyle/>
          <a:p>
            <a:pPr>
              <a:spcAft>
                <a:spcPts val="500"/>
              </a:spcAft>
              <a:defRPr sz="1300" b="1">
                <a:solidFill>
                  <a:srgbClr val="37DCF4"/>
                </a:solidFill>
                <a:latin typeface="Aptos"/>
              </a:defRPr>
            </a:pPr>
            <a:r>
              <a:t>REASON</a:t>
            </a:r>
          </a:p>
        </p:txBody>
      </p:sp>
      <p:sp>
        <p:nvSpPr>
          <p:cNvPr id="9" name="TextBox 8"/>
          <p:cNvSpPr txBox="1"/>
          <p:nvPr/>
        </p:nvSpPr>
        <p:spPr>
          <a:xfrm>
            <a:off x="804671" y="2560320"/>
            <a:ext cx="2916936" cy="548640"/>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Understand request + context</a:t>
            </a:r>
          </a:p>
        </p:txBody>
      </p:sp>
      <p:sp>
        <p:nvSpPr>
          <p:cNvPr id="10" name="Rounded Rectangle 9"/>
          <p:cNvSpPr/>
          <p:nvPr/>
        </p:nvSpPr>
        <p:spPr>
          <a:xfrm>
            <a:off x="640080" y="3429000"/>
            <a:ext cx="3246120" cy="114300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3575304"/>
            <a:ext cx="2916936" cy="274320"/>
          </a:xfrm>
          <a:prstGeom prst="rect">
            <a:avLst/>
          </a:prstGeom>
          <a:noFill/>
        </p:spPr>
        <p:txBody>
          <a:bodyPr wrap="square" lIns="54864" rIns="54864" tIns="54864" bIns="54864" anchor="t">
            <a:spAutoFit/>
          </a:bodyPr>
          <a:lstStyle/>
          <a:p>
            <a:pPr>
              <a:spcAft>
                <a:spcPts val="500"/>
              </a:spcAft>
              <a:defRPr sz="1300" b="1">
                <a:solidFill>
                  <a:srgbClr val="9D6FFF"/>
                </a:solidFill>
                <a:latin typeface="Aptos"/>
              </a:defRPr>
            </a:pPr>
            <a:r>
              <a:t>PLAN</a:t>
            </a:r>
          </a:p>
        </p:txBody>
      </p:sp>
      <p:sp>
        <p:nvSpPr>
          <p:cNvPr id="12" name="TextBox 11"/>
          <p:cNvSpPr txBox="1"/>
          <p:nvPr/>
        </p:nvSpPr>
        <p:spPr>
          <a:xfrm>
            <a:off x="804671" y="3931920"/>
            <a:ext cx="2916936" cy="548640"/>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Break goal into steps</a:t>
            </a:r>
          </a:p>
        </p:txBody>
      </p:sp>
      <p:sp>
        <p:nvSpPr>
          <p:cNvPr id="13" name="Rounded Rectangle 12"/>
          <p:cNvSpPr/>
          <p:nvPr/>
        </p:nvSpPr>
        <p:spPr>
          <a:xfrm>
            <a:off x="640080" y="4800600"/>
            <a:ext cx="3246120" cy="91440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4946904"/>
            <a:ext cx="2916936" cy="274320"/>
          </a:xfrm>
          <a:prstGeom prst="rect">
            <a:avLst/>
          </a:prstGeom>
          <a:noFill/>
        </p:spPr>
        <p:txBody>
          <a:bodyPr wrap="square" lIns="54864" rIns="54864" tIns="54864" bIns="54864" anchor="t">
            <a:spAutoFit/>
          </a:bodyPr>
          <a:lstStyle/>
          <a:p>
            <a:pPr>
              <a:spcAft>
                <a:spcPts val="500"/>
              </a:spcAft>
              <a:defRPr sz="1300" b="1">
                <a:solidFill>
                  <a:srgbClr val="FFAD4B"/>
                </a:solidFill>
                <a:latin typeface="Aptos"/>
              </a:defRPr>
            </a:pPr>
            <a:r>
              <a:t>CALL TOOLS</a:t>
            </a:r>
          </a:p>
        </p:txBody>
      </p:sp>
      <p:sp>
        <p:nvSpPr>
          <p:cNvPr id="15" name="TextBox 14"/>
          <p:cNvSpPr txBox="1"/>
          <p:nvPr/>
        </p:nvSpPr>
        <p:spPr>
          <a:xfrm>
            <a:off x="804671" y="5303520"/>
            <a:ext cx="2916936" cy="320040"/>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Select a function; inspect result</a:t>
            </a:r>
          </a:p>
        </p:txBody>
      </p:sp>
      <p:sp>
        <p:nvSpPr>
          <p:cNvPr id="16" name="Cloud 15"/>
          <p:cNvSpPr/>
          <p:nvPr/>
        </p:nvSpPr>
        <p:spPr>
          <a:xfrm>
            <a:off x="4572000" y="2240280"/>
            <a:ext cx="2926080" cy="2468880"/>
          </a:xfrm>
          <a:prstGeom prst="cloud">
            <a:avLst/>
          </a:prstGeom>
          <a:solidFill>
            <a:srgbClr val="172B53"/>
          </a:solidFill>
          <a:ln w="2540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3127248"/>
            <a:ext cx="1920240" cy="411480"/>
          </a:xfrm>
          <a:prstGeom prst="rect">
            <a:avLst/>
          </a:prstGeom>
          <a:noFill/>
        </p:spPr>
        <p:txBody>
          <a:bodyPr wrap="square" lIns="54864" rIns="54864" tIns="54864" bIns="54864" anchor="t">
            <a:spAutoFit/>
          </a:bodyPr>
          <a:lstStyle/>
          <a:p>
            <a:pPr algn="ctr">
              <a:spcAft>
                <a:spcPts val="500"/>
              </a:spcAft>
              <a:defRPr sz="2800" b="1">
                <a:solidFill>
                  <a:srgbClr val="F6F8FF"/>
                </a:solidFill>
                <a:latin typeface="Aptos"/>
              </a:defRPr>
            </a:pPr>
            <a:r>
              <a:t>LLM</a:t>
            </a:r>
          </a:p>
        </p:txBody>
      </p:sp>
      <p:sp>
        <p:nvSpPr>
          <p:cNvPr id="18" name="Oval 17"/>
          <p:cNvSpPr/>
          <p:nvPr/>
        </p:nvSpPr>
        <p:spPr>
          <a:xfrm>
            <a:off x="4663440" y="1920240"/>
            <a:ext cx="502920" cy="502920"/>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2450592"/>
            <a:ext cx="868680" cy="182880"/>
          </a:xfrm>
          <a:prstGeom prst="rect">
            <a:avLst/>
          </a:prstGeom>
          <a:noFill/>
        </p:spPr>
        <p:txBody>
          <a:bodyPr wrap="square" lIns="54864" rIns="54864" tIns="54864" bIns="54864" anchor="t">
            <a:spAutoFit/>
          </a:bodyPr>
          <a:lstStyle/>
          <a:p>
            <a:pPr algn="ctr">
              <a:spcAft>
                <a:spcPts val="500"/>
              </a:spcAft>
              <a:defRPr sz="900" b="1">
                <a:solidFill>
                  <a:srgbClr val="37DCF4"/>
                </a:solidFill>
                <a:latin typeface="Aptos"/>
              </a:defRPr>
            </a:pPr>
            <a:r>
              <a:t>Context</a:t>
            </a:r>
          </a:p>
        </p:txBody>
      </p:sp>
      <p:cxnSp>
        <p:nvCxnSpPr>
          <p:cNvPr id="20" name="Connector 19"/>
          <p:cNvCxnSpPr/>
          <p:nvPr/>
        </p:nvCxnSpPr>
        <p:spPr>
          <a:xfrm>
            <a:off x="4910327" y="2167128"/>
            <a:ext cx="1124713" cy="1216152"/>
          </a:xfrm>
          <a:prstGeom prst="line">
            <a:avLst/>
          </a:prstGeom>
          <a:ln w="15240">
            <a:solidFill>
              <a:srgbClr val="37DCF4"/>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40880" y="1828800"/>
            <a:ext cx="502920" cy="50292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359152"/>
            <a:ext cx="868680" cy="182880"/>
          </a:xfrm>
          <a:prstGeom prst="rect">
            <a:avLst/>
          </a:prstGeom>
          <a:noFill/>
        </p:spPr>
        <p:txBody>
          <a:bodyPr wrap="square" lIns="54864" rIns="54864" tIns="54864" bIns="54864" anchor="t">
            <a:spAutoFit/>
          </a:bodyPr>
          <a:lstStyle/>
          <a:p>
            <a:pPr algn="ctr">
              <a:spcAft>
                <a:spcPts val="500"/>
              </a:spcAft>
              <a:defRPr sz="900" b="1">
                <a:solidFill>
                  <a:srgbClr val="FFAD4B"/>
                </a:solidFill>
                <a:latin typeface="Aptos"/>
              </a:defRPr>
            </a:pPr>
            <a:r>
              <a:t>Tools</a:t>
            </a:r>
          </a:p>
        </p:txBody>
      </p:sp>
      <p:cxnSp>
        <p:nvCxnSpPr>
          <p:cNvPr id="23" name="Connector 22"/>
          <p:cNvCxnSpPr/>
          <p:nvPr/>
        </p:nvCxnSpPr>
        <p:spPr>
          <a:xfrm flipH="1">
            <a:off x="6035040" y="2075688"/>
            <a:ext cx="1252728" cy="1307592"/>
          </a:xfrm>
          <a:prstGeom prst="line">
            <a:avLst/>
          </a:prstGeom>
          <a:ln w="15240">
            <a:solidFill>
              <a:srgbClr val="FFAD4B"/>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360920" y="4160520"/>
            <a:ext cx="502920" cy="502920"/>
          </a:xfrm>
          <a:prstGeom prst="ellipse">
            <a:avLst/>
          </a:prstGeom>
          <a:solidFill>
            <a:srgbClr val="57E2A4"/>
          </a:solidFill>
          <a:ln>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4690872"/>
            <a:ext cx="868680" cy="182880"/>
          </a:xfrm>
          <a:prstGeom prst="rect">
            <a:avLst/>
          </a:prstGeom>
          <a:noFill/>
        </p:spPr>
        <p:txBody>
          <a:bodyPr wrap="square" lIns="54864" rIns="54864" tIns="54864" bIns="54864" anchor="t">
            <a:spAutoFit/>
          </a:bodyPr>
          <a:lstStyle/>
          <a:p>
            <a:pPr algn="ctr">
              <a:spcAft>
                <a:spcPts val="500"/>
              </a:spcAft>
              <a:defRPr sz="900" b="1">
                <a:solidFill>
                  <a:srgbClr val="57E2A4"/>
                </a:solidFill>
                <a:latin typeface="Aptos"/>
              </a:defRPr>
            </a:pPr>
            <a:r>
              <a:t>Results</a:t>
            </a:r>
          </a:p>
        </p:txBody>
      </p:sp>
      <p:cxnSp>
        <p:nvCxnSpPr>
          <p:cNvPr id="26" name="Connector 25"/>
          <p:cNvCxnSpPr/>
          <p:nvPr/>
        </p:nvCxnSpPr>
        <p:spPr>
          <a:xfrm flipH="1" flipV="1">
            <a:off x="6035040" y="3383280"/>
            <a:ext cx="1572768" cy="1024128"/>
          </a:xfrm>
          <a:prstGeom prst="line">
            <a:avLst/>
          </a:prstGeom>
          <a:ln w="15240">
            <a:solidFill>
              <a:srgbClr val="57E2A4"/>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617720" y="4297680"/>
            <a:ext cx="502920" cy="502920"/>
          </a:xfrm>
          <a:prstGeom prst="ellipse">
            <a:avLst/>
          </a:prstGeom>
          <a:solidFill>
            <a:srgbClr val="FF669B"/>
          </a:solidFill>
          <a:ln>
            <a:solidFill>
              <a:srgbClr val="FF6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828032"/>
            <a:ext cx="868680" cy="182880"/>
          </a:xfrm>
          <a:prstGeom prst="rect">
            <a:avLst/>
          </a:prstGeom>
          <a:noFill/>
        </p:spPr>
        <p:txBody>
          <a:bodyPr wrap="square" lIns="54864" rIns="54864" tIns="54864" bIns="54864" anchor="t">
            <a:spAutoFit/>
          </a:bodyPr>
          <a:lstStyle/>
          <a:p>
            <a:pPr algn="ctr">
              <a:spcAft>
                <a:spcPts val="500"/>
              </a:spcAft>
              <a:defRPr sz="900" b="1">
                <a:solidFill>
                  <a:srgbClr val="FF669B"/>
                </a:solidFill>
                <a:latin typeface="Aptos"/>
              </a:defRPr>
            </a:pPr>
            <a:r>
              <a:t>Goal</a:t>
            </a:r>
          </a:p>
        </p:txBody>
      </p:sp>
      <p:cxnSp>
        <p:nvCxnSpPr>
          <p:cNvPr id="29" name="Connector 28"/>
          <p:cNvCxnSpPr/>
          <p:nvPr/>
        </p:nvCxnSpPr>
        <p:spPr>
          <a:xfrm flipV="1">
            <a:off x="4864608" y="3383280"/>
            <a:ext cx="1170432" cy="1161288"/>
          </a:xfrm>
          <a:prstGeom prst="line">
            <a:avLst/>
          </a:prstGeom>
          <a:ln w="15240">
            <a:solidFill>
              <a:srgbClr val="FF669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229600" y="2240280"/>
            <a:ext cx="3246120" cy="251460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94192" y="2386584"/>
            <a:ext cx="2916936" cy="274320"/>
          </a:xfrm>
          <a:prstGeom prst="rect">
            <a:avLst/>
          </a:prstGeom>
          <a:noFill/>
        </p:spPr>
        <p:txBody>
          <a:bodyPr wrap="square" lIns="54864" rIns="54864" tIns="54864" bIns="54864" anchor="t">
            <a:spAutoFit/>
          </a:bodyPr>
          <a:lstStyle/>
          <a:p>
            <a:pPr>
              <a:spcAft>
                <a:spcPts val="500"/>
              </a:spcAft>
              <a:defRPr sz="1300" b="1">
                <a:solidFill>
                  <a:srgbClr val="57E2A4"/>
                </a:solidFill>
                <a:latin typeface="Aptos"/>
              </a:defRPr>
            </a:pPr>
            <a:r>
              <a:t>MODEL CHECKLIST</a:t>
            </a:r>
          </a:p>
        </p:txBody>
      </p:sp>
      <p:sp>
        <p:nvSpPr>
          <p:cNvPr id="32" name="TextBox 31"/>
          <p:cNvSpPr txBox="1"/>
          <p:nvPr/>
        </p:nvSpPr>
        <p:spPr>
          <a:xfrm>
            <a:off x="8394192" y="2743200"/>
            <a:ext cx="2916936" cy="1920240"/>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Capability</a:t>
            </a:r>
          </a:p>
          <a:p>
            <a:pPr>
              <a:spcAft>
                <a:spcPts val="500"/>
              </a:spcAft>
              <a:defRPr sz="1200" b="0">
                <a:solidFill>
                  <a:srgbClr val="F6F8FF"/>
                </a:solidFill>
                <a:latin typeface="Aptos"/>
              </a:defRPr>
            </a:pPr>
            <a:r>
              <a:t>Tool-use reliability</a:t>
            </a:r>
          </a:p>
          <a:p>
            <a:pPr>
              <a:spcAft>
                <a:spcPts val="500"/>
              </a:spcAft>
              <a:defRPr sz="1200" b="0">
                <a:solidFill>
                  <a:srgbClr val="F6F8FF"/>
                </a:solidFill>
                <a:latin typeface="Aptos"/>
              </a:defRPr>
            </a:pPr>
            <a:r>
              <a:t>Cost + latency</a:t>
            </a:r>
          </a:p>
          <a:p>
            <a:pPr>
              <a:spcAft>
                <a:spcPts val="500"/>
              </a:spcAft>
              <a:defRPr sz="1200" b="0">
                <a:solidFill>
                  <a:srgbClr val="F6F8FF"/>
                </a:solidFill>
                <a:latin typeface="Aptos"/>
              </a:defRPr>
            </a:pPr>
            <a:r>
              <a:t>Privacy requirements</a:t>
            </a:r>
          </a:p>
          <a:p>
            <a:pPr>
              <a:spcAft>
                <a:spcPts val="500"/>
              </a:spcAft>
              <a:defRPr sz="1200" b="0">
                <a:solidFill>
                  <a:srgbClr val="F6F8FF"/>
                </a:solidFill>
                <a:latin typeface="Aptos"/>
              </a:defRPr>
            </a:pPr>
            <a:r>
              <a:t>Evaluation on real tasks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4  /  THE BOILERPLATE PROBLEM</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The visible agent loop hides a lot of plumbing</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Frameworks help organize repeated patterns; they do not remove the need to design and test.</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4</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731520" y="2057400"/>
            <a:ext cx="4114800" cy="914400"/>
          </a:xfrm>
          <a:prstGeom prst="roundRect">
            <a:avLst/>
          </a:prstGeom>
          <a:solidFill>
            <a:srgbClr val="172B53"/>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50008"/>
            <a:ext cx="3749039" cy="274320"/>
          </a:xfrm>
          <a:prstGeom prst="rect">
            <a:avLst/>
          </a:prstGeom>
          <a:noFill/>
        </p:spPr>
        <p:txBody>
          <a:bodyPr wrap="square" lIns="54864" rIns="54864" tIns="54864" bIns="54864" anchor="t">
            <a:spAutoFit/>
          </a:bodyPr>
          <a:lstStyle/>
          <a:p>
            <a:pPr algn="ctr">
              <a:spcAft>
                <a:spcPts val="500"/>
              </a:spcAft>
              <a:defRPr sz="1500" b="1">
                <a:solidFill>
                  <a:srgbClr val="37DCF4"/>
                </a:solidFill>
                <a:latin typeface="Aptos"/>
              </a:defRPr>
            </a:pPr>
            <a:r>
              <a:t>VISIBLE TIP  /  “CALL THE TOOL”</a:t>
            </a:r>
          </a:p>
        </p:txBody>
      </p:sp>
      <p:sp>
        <p:nvSpPr>
          <p:cNvPr id="9" name="Isosceles Triangle 8"/>
          <p:cNvSpPr/>
          <p:nvPr/>
        </p:nvSpPr>
        <p:spPr>
          <a:xfrm>
            <a:off x="1463040" y="2743200"/>
            <a:ext cx="2651760" cy="2468880"/>
          </a:xfrm>
          <a:prstGeom prst="triangle">
            <a:avLst/>
          </a:prstGeom>
          <a:solidFill>
            <a:srgbClr val="5591FF"/>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5166360"/>
            <a:ext cx="3383280" cy="228600"/>
          </a:xfrm>
          <a:prstGeom prst="rect">
            <a:avLst/>
          </a:prstGeom>
          <a:noFill/>
        </p:spPr>
        <p:txBody>
          <a:bodyPr wrap="square" lIns="54864" rIns="54864" tIns="54864" bIns="54864" anchor="t">
            <a:spAutoFit/>
          </a:bodyPr>
          <a:lstStyle/>
          <a:p>
            <a:pPr algn="ctr">
              <a:spcAft>
                <a:spcPts val="500"/>
              </a:spcAft>
              <a:defRPr sz="1000" b="1">
                <a:solidFill>
                  <a:srgbClr val="FFAD4B"/>
                </a:solidFill>
                <a:latin typeface="Aptos"/>
              </a:defRPr>
            </a:pPr>
            <a:r>
              <a:t>HIDDEN BELOW THE SURFACE</a:t>
            </a:r>
          </a:p>
        </p:txBody>
      </p:sp>
      <p:sp>
        <p:nvSpPr>
          <p:cNvPr id="11" name="Rounded Rectangle 10"/>
          <p:cNvSpPr/>
          <p:nvPr/>
        </p:nvSpPr>
        <p:spPr>
          <a:xfrm>
            <a:off x="5303520" y="2011680"/>
            <a:ext cx="5989320" cy="73152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8112" y="2157984"/>
            <a:ext cx="5660136" cy="274320"/>
          </a:xfrm>
          <a:prstGeom prst="rect">
            <a:avLst/>
          </a:prstGeom>
          <a:noFill/>
        </p:spPr>
        <p:txBody>
          <a:bodyPr wrap="square" lIns="54864" rIns="54864" tIns="54864" bIns="54864" anchor="t">
            <a:spAutoFit/>
          </a:bodyPr>
          <a:lstStyle/>
          <a:p>
            <a:pPr>
              <a:spcAft>
                <a:spcPts val="500"/>
              </a:spcAft>
              <a:defRPr sz="1200" b="1">
                <a:solidFill>
                  <a:srgbClr val="37DCF4"/>
                </a:solidFill>
                <a:latin typeface="Aptos"/>
              </a:defRPr>
            </a:pPr>
            <a:r>
              <a:t>TOOL CALLING &amp; PARSING</a:t>
            </a:r>
          </a:p>
        </p:txBody>
      </p:sp>
      <p:sp>
        <p:nvSpPr>
          <p:cNvPr id="13" name="TextBox 12"/>
          <p:cNvSpPr txBox="1"/>
          <p:nvPr/>
        </p:nvSpPr>
        <p:spPr>
          <a:xfrm>
            <a:off x="5468112" y="2514600"/>
            <a:ext cx="5660136" cy="137160"/>
          </a:xfrm>
          <a:prstGeom prst="rect">
            <a:avLst/>
          </a:prstGeom>
          <a:noFill/>
        </p:spPr>
        <p:txBody>
          <a:bodyPr wrap="square" lIns="54864" rIns="54864" tIns="54864" bIns="54864" anchor="t">
            <a:spAutoFit/>
          </a:bodyPr>
          <a:lstStyle/>
          <a:p>
            <a:pPr>
              <a:spcAft>
                <a:spcPts val="500"/>
              </a:spcAft>
              <a:defRPr sz="1100" b="0">
                <a:solidFill>
                  <a:srgbClr val="F6F8FF"/>
                </a:solidFill>
                <a:latin typeface="Aptos"/>
              </a:defRPr>
            </a:pPr>
            <a:r>
              <a:t>Validate inputs and interpret outputs</a:t>
            </a:r>
          </a:p>
        </p:txBody>
      </p:sp>
      <p:sp>
        <p:nvSpPr>
          <p:cNvPr id="14" name="Rounded Rectangle 13"/>
          <p:cNvSpPr/>
          <p:nvPr/>
        </p:nvSpPr>
        <p:spPr>
          <a:xfrm>
            <a:off x="5303520" y="2926080"/>
            <a:ext cx="5989320" cy="73152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68112" y="3072384"/>
            <a:ext cx="5660136" cy="274320"/>
          </a:xfrm>
          <a:prstGeom prst="rect">
            <a:avLst/>
          </a:prstGeom>
          <a:noFill/>
        </p:spPr>
        <p:txBody>
          <a:bodyPr wrap="square" lIns="54864" rIns="54864" tIns="54864" bIns="54864" anchor="t">
            <a:spAutoFit/>
          </a:bodyPr>
          <a:lstStyle/>
          <a:p>
            <a:pPr>
              <a:spcAft>
                <a:spcPts val="500"/>
              </a:spcAft>
              <a:defRPr sz="1200" b="1">
                <a:solidFill>
                  <a:srgbClr val="9D6FFF"/>
                </a:solidFill>
                <a:latin typeface="Aptos"/>
              </a:defRPr>
            </a:pPr>
            <a:r>
              <a:t>STATE MANAGEMENT</a:t>
            </a:r>
          </a:p>
        </p:txBody>
      </p:sp>
      <p:sp>
        <p:nvSpPr>
          <p:cNvPr id="16" name="TextBox 15"/>
          <p:cNvSpPr txBox="1"/>
          <p:nvPr/>
        </p:nvSpPr>
        <p:spPr>
          <a:xfrm>
            <a:off x="5468112" y="3429000"/>
            <a:ext cx="5660136" cy="137160"/>
          </a:xfrm>
          <a:prstGeom prst="rect">
            <a:avLst/>
          </a:prstGeom>
          <a:noFill/>
        </p:spPr>
        <p:txBody>
          <a:bodyPr wrap="square" lIns="54864" rIns="54864" tIns="54864" bIns="54864" anchor="t">
            <a:spAutoFit/>
          </a:bodyPr>
          <a:lstStyle/>
          <a:p>
            <a:pPr>
              <a:spcAft>
                <a:spcPts val="500"/>
              </a:spcAft>
              <a:defRPr sz="1100" b="0">
                <a:solidFill>
                  <a:srgbClr val="F6F8FF"/>
                </a:solidFill>
                <a:latin typeface="Aptos"/>
              </a:defRPr>
            </a:pPr>
            <a:r>
              <a:t>Carry task state between steps</a:t>
            </a:r>
          </a:p>
        </p:txBody>
      </p:sp>
      <p:sp>
        <p:nvSpPr>
          <p:cNvPr id="17" name="Rounded Rectangle 16"/>
          <p:cNvSpPr/>
          <p:nvPr/>
        </p:nvSpPr>
        <p:spPr>
          <a:xfrm>
            <a:off x="5303520" y="3840480"/>
            <a:ext cx="5989320" cy="73152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8112" y="3986784"/>
            <a:ext cx="5660136" cy="274320"/>
          </a:xfrm>
          <a:prstGeom prst="rect">
            <a:avLst/>
          </a:prstGeom>
          <a:noFill/>
        </p:spPr>
        <p:txBody>
          <a:bodyPr wrap="square" lIns="54864" rIns="54864" tIns="54864" bIns="54864" anchor="t">
            <a:spAutoFit/>
          </a:bodyPr>
          <a:lstStyle/>
          <a:p>
            <a:pPr>
              <a:spcAft>
                <a:spcPts val="500"/>
              </a:spcAft>
              <a:defRPr sz="1200" b="1">
                <a:solidFill>
                  <a:srgbClr val="FFAD4B"/>
                </a:solidFill>
                <a:latin typeface="Aptos"/>
              </a:defRPr>
            </a:pPr>
            <a:r>
              <a:t>RAG PIPELINES</a:t>
            </a:r>
          </a:p>
        </p:txBody>
      </p:sp>
      <p:sp>
        <p:nvSpPr>
          <p:cNvPr id="19" name="TextBox 18"/>
          <p:cNvSpPr txBox="1"/>
          <p:nvPr/>
        </p:nvSpPr>
        <p:spPr>
          <a:xfrm>
            <a:off x="5468112" y="4343400"/>
            <a:ext cx="5660136" cy="137160"/>
          </a:xfrm>
          <a:prstGeom prst="rect">
            <a:avLst/>
          </a:prstGeom>
          <a:noFill/>
        </p:spPr>
        <p:txBody>
          <a:bodyPr wrap="square" lIns="54864" rIns="54864" tIns="54864" bIns="54864" anchor="t">
            <a:spAutoFit/>
          </a:bodyPr>
          <a:lstStyle/>
          <a:p>
            <a:pPr>
              <a:spcAft>
                <a:spcPts val="500"/>
              </a:spcAft>
              <a:defRPr sz="1100" b="0">
                <a:solidFill>
                  <a:srgbClr val="F6F8FF"/>
                </a:solidFill>
                <a:latin typeface="Aptos"/>
              </a:defRPr>
            </a:pPr>
            <a:r>
              <a:t>Retrieve relevant information</a:t>
            </a:r>
          </a:p>
        </p:txBody>
      </p:sp>
      <p:sp>
        <p:nvSpPr>
          <p:cNvPr id="20" name="Rounded Rectangle 19"/>
          <p:cNvSpPr/>
          <p:nvPr/>
        </p:nvSpPr>
        <p:spPr>
          <a:xfrm>
            <a:off x="5303520" y="4754880"/>
            <a:ext cx="5989320" cy="73152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68112" y="4901184"/>
            <a:ext cx="5660136" cy="274320"/>
          </a:xfrm>
          <a:prstGeom prst="rect">
            <a:avLst/>
          </a:prstGeom>
          <a:noFill/>
        </p:spPr>
        <p:txBody>
          <a:bodyPr wrap="square" lIns="54864" rIns="54864" tIns="54864" bIns="54864" anchor="t">
            <a:spAutoFit/>
          </a:bodyPr>
          <a:lstStyle/>
          <a:p>
            <a:pPr>
              <a:spcAft>
                <a:spcPts val="500"/>
              </a:spcAft>
              <a:defRPr sz="1200" b="1">
                <a:solidFill>
                  <a:srgbClr val="57E2A4"/>
                </a:solidFill>
                <a:latin typeface="Aptos"/>
              </a:defRPr>
            </a:pPr>
            <a:r>
              <a:t>PROMPT MANAGEMENT</a:t>
            </a:r>
          </a:p>
        </p:txBody>
      </p:sp>
      <p:sp>
        <p:nvSpPr>
          <p:cNvPr id="22" name="TextBox 21"/>
          <p:cNvSpPr txBox="1"/>
          <p:nvPr/>
        </p:nvSpPr>
        <p:spPr>
          <a:xfrm>
            <a:off x="5468112" y="5257800"/>
            <a:ext cx="5660136" cy="137160"/>
          </a:xfrm>
          <a:prstGeom prst="rect">
            <a:avLst/>
          </a:prstGeom>
          <a:noFill/>
        </p:spPr>
        <p:txBody>
          <a:bodyPr wrap="square" lIns="54864" rIns="54864" tIns="54864" bIns="54864" anchor="t">
            <a:spAutoFit/>
          </a:bodyPr>
          <a:lstStyle/>
          <a:p>
            <a:pPr>
              <a:spcAft>
                <a:spcPts val="500"/>
              </a:spcAft>
              <a:defRPr sz="1100" b="0">
                <a:solidFill>
                  <a:srgbClr val="F6F8FF"/>
                </a:solidFill>
                <a:latin typeface="Aptos"/>
              </a:defRPr>
            </a:pPr>
            <a:r>
              <a:t>Version instructions and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4  /  STATE, CYCLES, ROUTING</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Why not just write a for-loop?</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Agent workflows are stateful and may take different paths based on model and tool results.</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4</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057400"/>
            <a:ext cx="4846320" cy="2651760"/>
          </a:xfrm>
          <a:prstGeom prst="roundRect">
            <a:avLst/>
          </a:prstGeom>
          <a:solidFill>
            <a:srgbClr val="0F1D3E"/>
          </a:solidFill>
          <a:ln w="15240">
            <a:solidFill>
              <a:srgbClr val="FF6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03704"/>
            <a:ext cx="4517136" cy="274320"/>
          </a:xfrm>
          <a:prstGeom prst="rect">
            <a:avLst/>
          </a:prstGeom>
          <a:noFill/>
        </p:spPr>
        <p:txBody>
          <a:bodyPr wrap="square" lIns="54864" rIns="54864" tIns="54864" bIns="54864" anchor="t">
            <a:spAutoFit/>
          </a:bodyPr>
          <a:lstStyle/>
          <a:p>
            <a:pPr>
              <a:spcAft>
                <a:spcPts val="500"/>
              </a:spcAft>
              <a:defRPr sz="1500" b="1">
                <a:solidFill>
                  <a:srgbClr val="FF669B"/>
                </a:solidFill>
                <a:latin typeface="Aptos"/>
              </a:defRPr>
            </a:pPr>
            <a:r>
              <a:t>SCRATCH-CODE CHALLENGE</a:t>
            </a:r>
          </a:p>
        </p:txBody>
      </p:sp>
      <p:sp>
        <p:nvSpPr>
          <p:cNvPr id="9" name="TextBox 8"/>
          <p:cNvSpPr txBox="1"/>
          <p:nvPr/>
        </p:nvSpPr>
        <p:spPr>
          <a:xfrm>
            <a:off x="804671" y="2560320"/>
            <a:ext cx="4517136" cy="205740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 State scattered across variables</a:t>
            </a:r>
          </a:p>
          <a:p>
            <a:pPr>
              <a:spcAft>
                <a:spcPts val="500"/>
              </a:spcAft>
              <a:defRPr sz="1400" b="0">
                <a:solidFill>
                  <a:srgbClr val="F6F8FF"/>
                </a:solidFill>
                <a:latin typeface="Aptos"/>
              </a:defRPr>
            </a:pPr>
            <a:r>
              <a:t>• Retry and error handling repeated</a:t>
            </a:r>
          </a:p>
          <a:p>
            <a:pPr>
              <a:spcAft>
                <a:spcPts val="500"/>
              </a:spcAft>
              <a:defRPr sz="1400" b="0">
                <a:solidFill>
                  <a:srgbClr val="F6F8FF"/>
                </a:solidFill>
                <a:latin typeface="Aptos"/>
              </a:defRPr>
            </a:pPr>
            <a:r>
              <a:t>• Branches become hard to trace</a:t>
            </a:r>
          </a:p>
          <a:p>
            <a:pPr>
              <a:spcAft>
                <a:spcPts val="500"/>
              </a:spcAft>
              <a:defRPr sz="1400" b="0">
                <a:solidFill>
                  <a:srgbClr val="F6F8FF"/>
                </a:solidFill>
                <a:latin typeface="Aptos"/>
              </a:defRPr>
            </a:pPr>
            <a:r>
              <a:t>• Model routing is not deterministic</a:t>
            </a:r>
          </a:p>
        </p:txBody>
      </p:sp>
      <p:sp>
        <p:nvSpPr>
          <p:cNvPr id="10" name="Rounded Rectangle 9"/>
          <p:cNvSpPr/>
          <p:nvPr/>
        </p:nvSpPr>
        <p:spPr>
          <a:xfrm>
            <a:off x="6675120" y="2057400"/>
            <a:ext cx="4846320" cy="265176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2203704"/>
            <a:ext cx="4517136" cy="274320"/>
          </a:xfrm>
          <a:prstGeom prst="rect">
            <a:avLst/>
          </a:prstGeom>
          <a:noFill/>
        </p:spPr>
        <p:txBody>
          <a:bodyPr wrap="square" lIns="54864" rIns="54864" tIns="54864" bIns="54864" anchor="t">
            <a:spAutoFit/>
          </a:bodyPr>
          <a:lstStyle/>
          <a:p>
            <a:pPr>
              <a:spcAft>
                <a:spcPts val="500"/>
              </a:spcAft>
              <a:defRPr sz="1500" b="1">
                <a:solidFill>
                  <a:srgbClr val="37DCF4"/>
                </a:solidFill>
                <a:latin typeface="Aptos"/>
              </a:defRPr>
            </a:pPr>
            <a:r>
              <a:t>GRAPH-BASED WORKFLOW</a:t>
            </a:r>
          </a:p>
        </p:txBody>
      </p:sp>
      <p:sp>
        <p:nvSpPr>
          <p:cNvPr id="12" name="TextBox 11"/>
          <p:cNvSpPr txBox="1"/>
          <p:nvPr/>
        </p:nvSpPr>
        <p:spPr>
          <a:xfrm>
            <a:off x="6839712" y="2560320"/>
            <a:ext cx="4517136" cy="205740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 State passed between nodes</a:t>
            </a:r>
          </a:p>
          <a:p>
            <a:pPr>
              <a:spcAft>
                <a:spcPts val="500"/>
              </a:spcAft>
              <a:defRPr sz="1400" b="0">
                <a:solidFill>
                  <a:srgbClr val="F6F8FF"/>
                </a:solidFill>
                <a:latin typeface="Aptos"/>
              </a:defRPr>
            </a:pPr>
            <a:r>
              <a:t>• Edges define possible next steps</a:t>
            </a:r>
          </a:p>
          <a:p>
            <a:pPr>
              <a:spcAft>
                <a:spcPts val="500"/>
              </a:spcAft>
              <a:defRPr sz="1400" b="0">
                <a:solidFill>
                  <a:srgbClr val="F6F8FF"/>
                </a:solidFill>
                <a:latin typeface="Aptos"/>
              </a:defRPr>
            </a:pPr>
            <a:r>
              <a:t>• Loops and stop conditions are explicit</a:t>
            </a:r>
          </a:p>
          <a:p>
            <a:pPr>
              <a:spcAft>
                <a:spcPts val="500"/>
              </a:spcAft>
              <a:defRPr sz="1400" b="0">
                <a:solidFill>
                  <a:srgbClr val="F6F8FF"/>
                </a:solidFill>
                <a:latin typeface="Aptos"/>
              </a:defRPr>
            </a:pPr>
            <a:r>
              <a:t>• Easier to inspect and test</a:t>
            </a:r>
          </a:p>
        </p:txBody>
      </p:sp>
      <p:cxnSp>
        <p:nvCxnSpPr>
          <p:cNvPr id="13" name="Connector 12"/>
          <p:cNvCxnSpPr/>
          <p:nvPr/>
        </p:nvCxnSpPr>
        <p:spPr>
          <a:xfrm>
            <a:off x="5577840" y="3337560"/>
            <a:ext cx="960120" cy="0"/>
          </a:xfrm>
          <a:prstGeom prst="line">
            <a:avLst/>
          </a:prstGeom>
          <a:ln w="38100">
            <a:solidFill>
              <a:srgbClr val="FFAD4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5840" y="5212080"/>
            <a:ext cx="10149840" cy="365760"/>
          </a:xfrm>
          <a:prstGeom prst="rect">
            <a:avLst/>
          </a:prstGeom>
          <a:noFill/>
        </p:spPr>
        <p:txBody>
          <a:bodyPr wrap="square" lIns="54864" rIns="54864" tIns="54864" bIns="54864" anchor="t">
            <a:spAutoFit/>
          </a:bodyPr>
          <a:lstStyle/>
          <a:p>
            <a:pPr algn="ctr">
              <a:spcAft>
                <a:spcPts val="500"/>
              </a:spcAft>
              <a:defRPr sz="1500" b="1">
                <a:solidFill>
                  <a:srgbClr val="57E2A4"/>
                </a:solidFill>
                <a:latin typeface="Aptos"/>
              </a:defRPr>
            </a:pPr>
            <a:r>
              <a:t>MENTAL MODEL: State → Node → Decision / Edge → Next Node (or Stop)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5  /  ADVANCED PATTERN — REFLECTION</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Writer → Critic → Revision</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A second pass can improve quality when the review criteria are explicit.</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5</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286000"/>
            <a:ext cx="2926080" cy="196596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432304"/>
            <a:ext cx="2596896" cy="274320"/>
          </a:xfrm>
          <a:prstGeom prst="rect">
            <a:avLst/>
          </a:prstGeom>
          <a:noFill/>
        </p:spPr>
        <p:txBody>
          <a:bodyPr wrap="square" lIns="54864" rIns="54864" tIns="54864" bIns="54864" anchor="t">
            <a:spAutoFit/>
          </a:bodyPr>
          <a:lstStyle/>
          <a:p>
            <a:pPr>
              <a:spcAft>
                <a:spcPts val="500"/>
              </a:spcAft>
              <a:defRPr sz="1500" b="1">
                <a:solidFill>
                  <a:srgbClr val="37DCF4"/>
                </a:solidFill>
                <a:latin typeface="Aptos"/>
              </a:defRPr>
            </a:pPr>
            <a:r>
              <a:t>1  WRITER</a:t>
            </a:r>
          </a:p>
        </p:txBody>
      </p:sp>
      <p:sp>
        <p:nvSpPr>
          <p:cNvPr id="9" name="TextBox 8"/>
          <p:cNvSpPr txBox="1"/>
          <p:nvPr/>
        </p:nvSpPr>
        <p:spPr>
          <a:xfrm>
            <a:off x="804671" y="2788920"/>
            <a:ext cx="2596896" cy="137160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Follows plan</a:t>
            </a:r>
          </a:p>
          <a:p>
            <a:pPr>
              <a:spcAft>
                <a:spcPts val="500"/>
              </a:spcAft>
              <a:defRPr sz="1400" b="0">
                <a:solidFill>
                  <a:srgbClr val="F6F8FF"/>
                </a:solidFill>
                <a:latin typeface="Aptos"/>
              </a:defRPr>
            </a:pPr>
            <a:r>
              <a:t>Uses approved tools</a:t>
            </a:r>
          </a:p>
          <a:p>
            <a:pPr>
              <a:spcAft>
                <a:spcPts val="500"/>
              </a:spcAft>
              <a:defRPr sz="1400" b="0">
                <a:solidFill>
                  <a:srgbClr val="F6F8FF"/>
                </a:solidFill>
                <a:latin typeface="Aptos"/>
              </a:defRPr>
            </a:pPr>
            <a:r>
              <a:t>Produces first draft</a:t>
            </a:r>
          </a:p>
        </p:txBody>
      </p:sp>
      <p:sp>
        <p:nvSpPr>
          <p:cNvPr id="10" name="Rounded Rectangle 9"/>
          <p:cNvSpPr/>
          <p:nvPr/>
        </p:nvSpPr>
        <p:spPr>
          <a:xfrm>
            <a:off x="4617720" y="2286000"/>
            <a:ext cx="2926080" cy="196596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2432304"/>
            <a:ext cx="2596896" cy="274320"/>
          </a:xfrm>
          <a:prstGeom prst="rect">
            <a:avLst/>
          </a:prstGeom>
          <a:noFill/>
        </p:spPr>
        <p:txBody>
          <a:bodyPr wrap="square" lIns="54864" rIns="54864" tIns="54864" bIns="54864" anchor="t">
            <a:spAutoFit/>
          </a:bodyPr>
          <a:lstStyle/>
          <a:p>
            <a:pPr>
              <a:spcAft>
                <a:spcPts val="500"/>
              </a:spcAft>
              <a:defRPr sz="1500" b="1">
                <a:solidFill>
                  <a:srgbClr val="9D6FFF"/>
                </a:solidFill>
                <a:latin typeface="Aptos"/>
              </a:defRPr>
            </a:pPr>
            <a:r>
              <a:t>2  CRITIC</a:t>
            </a:r>
          </a:p>
        </p:txBody>
      </p:sp>
      <p:sp>
        <p:nvSpPr>
          <p:cNvPr id="12" name="TextBox 11"/>
          <p:cNvSpPr txBox="1"/>
          <p:nvPr/>
        </p:nvSpPr>
        <p:spPr>
          <a:xfrm>
            <a:off x="4782312" y="2788920"/>
            <a:ext cx="2596896" cy="137160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Checks goal + evidence</a:t>
            </a:r>
          </a:p>
          <a:p>
            <a:pPr>
              <a:spcAft>
                <a:spcPts val="500"/>
              </a:spcAft>
              <a:defRPr sz="1400" b="0">
                <a:solidFill>
                  <a:srgbClr val="F6F8FF"/>
                </a:solidFill>
                <a:latin typeface="Aptos"/>
              </a:defRPr>
            </a:pPr>
            <a:r>
              <a:t>Finds gaps and errors</a:t>
            </a:r>
          </a:p>
          <a:p>
            <a:pPr>
              <a:spcAft>
                <a:spcPts val="500"/>
              </a:spcAft>
              <a:defRPr sz="1400" b="0">
                <a:solidFill>
                  <a:srgbClr val="F6F8FF"/>
                </a:solidFill>
                <a:latin typeface="Aptos"/>
              </a:defRPr>
            </a:pPr>
            <a:r>
              <a:t>Uses quality checklist</a:t>
            </a:r>
          </a:p>
        </p:txBody>
      </p:sp>
      <p:sp>
        <p:nvSpPr>
          <p:cNvPr id="13" name="Rounded Rectangle 12"/>
          <p:cNvSpPr/>
          <p:nvPr/>
        </p:nvSpPr>
        <p:spPr>
          <a:xfrm>
            <a:off x="8595360" y="2286000"/>
            <a:ext cx="2926080" cy="196596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59952" y="2432304"/>
            <a:ext cx="2596896" cy="274320"/>
          </a:xfrm>
          <a:prstGeom prst="rect">
            <a:avLst/>
          </a:prstGeom>
          <a:noFill/>
        </p:spPr>
        <p:txBody>
          <a:bodyPr wrap="square" lIns="54864" rIns="54864" tIns="54864" bIns="54864" anchor="t">
            <a:spAutoFit/>
          </a:bodyPr>
          <a:lstStyle/>
          <a:p>
            <a:pPr>
              <a:spcAft>
                <a:spcPts val="500"/>
              </a:spcAft>
              <a:defRPr sz="1500" b="1">
                <a:solidFill>
                  <a:srgbClr val="57E2A4"/>
                </a:solidFill>
                <a:latin typeface="Aptos"/>
              </a:defRPr>
            </a:pPr>
            <a:r>
              <a:t>3  REVISION</a:t>
            </a:r>
          </a:p>
        </p:txBody>
      </p:sp>
      <p:sp>
        <p:nvSpPr>
          <p:cNvPr id="15" name="TextBox 14"/>
          <p:cNvSpPr txBox="1"/>
          <p:nvPr/>
        </p:nvSpPr>
        <p:spPr>
          <a:xfrm>
            <a:off x="8759952" y="2788920"/>
            <a:ext cx="2596896" cy="137160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Addresses feedback</a:t>
            </a:r>
          </a:p>
          <a:p>
            <a:pPr>
              <a:spcAft>
                <a:spcPts val="500"/>
              </a:spcAft>
              <a:defRPr sz="1400" b="0">
                <a:solidFill>
                  <a:srgbClr val="F6F8FF"/>
                </a:solidFill>
                <a:latin typeface="Aptos"/>
              </a:defRPr>
            </a:pPr>
            <a:r>
              <a:t>Produces final version</a:t>
            </a:r>
          </a:p>
          <a:p>
            <a:pPr>
              <a:spcAft>
                <a:spcPts val="500"/>
              </a:spcAft>
              <a:defRPr sz="1400" b="0">
                <a:solidFill>
                  <a:srgbClr val="F6F8FF"/>
                </a:solidFill>
                <a:latin typeface="Aptos"/>
              </a:defRPr>
            </a:pPr>
            <a:r>
              <a:t>Stops at quality bar</a:t>
            </a:r>
          </a:p>
        </p:txBody>
      </p:sp>
      <p:cxnSp>
        <p:nvCxnSpPr>
          <p:cNvPr id="16" name="Connector 15"/>
          <p:cNvCxnSpPr/>
          <p:nvPr/>
        </p:nvCxnSpPr>
        <p:spPr>
          <a:xfrm>
            <a:off x="3611880" y="3246120"/>
            <a:ext cx="914400" cy="0"/>
          </a:xfrm>
          <a:prstGeom prst="line">
            <a:avLst/>
          </a:prstGeom>
          <a:ln w="38100">
            <a:solidFill>
              <a:srgbClr val="FFAD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589520" y="3246120"/>
            <a:ext cx="914400" cy="0"/>
          </a:xfrm>
          <a:prstGeom prst="line">
            <a:avLst/>
          </a:prstGeom>
          <a:ln w="38100">
            <a:solidFill>
              <a:srgbClr val="FFAD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103120" y="4389120"/>
            <a:ext cx="7909560" cy="502920"/>
          </a:xfrm>
          <a:prstGeom prst="line">
            <a:avLst/>
          </a:prstGeom>
          <a:ln w="19050">
            <a:solidFill>
              <a:srgbClr val="FF669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743200" y="4937760"/>
            <a:ext cx="6858000" cy="320040"/>
          </a:xfrm>
          <a:prstGeom prst="rect">
            <a:avLst/>
          </a:prstGeom>
          <a:noFill/>
        </p:spPr>
        <p:txBody>
          <a:bodyPr wrap="square" lIns="54864" rIns="54864" tIns="54864" bIns="54864" anchor="t">
            <a:spAutoFit/>
          </a:bodyPr>
          <a:lstStyle/>
          <a:p>
            <a:pPr algn="ctr">
              <a:spcAft>
                <a:spcPts val="500"/>
              </a:spcAft>
              <a:defRPr sz="1200" b="1">
                <a:solidFill>
                  <a:srgbClr val="FF669B"/>
                </a:solidFill>
                <a:latin typeface="Aptos"/>
              </a:defRPr>
            </a:pPr>
            <a:r>
              <a:t>FEEDBACK LOOP: draft → critique → revise (with a maximum iteration limit)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5  /  KNOW THE TRADE-OFFS</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More reflection can mean more cost and latency</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Use review loops when the quality gain justifies the extra work.</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5</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Oval 6"/>
          <p:cNvSpPr/>
          <p:nvPr/>
        </p:nvSpPr>
        <p:spPr>
          <a:xfrm>
            <a:off x="914400" y="2286000"/>
            <a:ext cx="2194560" cy="2194560"/>
          </a:xfrm>
          <a:prstGeom prst="ellipse">
            <a:avLst/>
          </a:prstGeom>
          <a:solidFill>
            <a:srgbClr val="172B53"/>
          </a:solidFill>
          <a:ln>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98448" y="2670048"/>
            <a:ext cx="1426464" cy="1426464"/>
          </a:xfrm>
          <a:prstGeom prst="ellipse">
            <a:avLst/>
          </a:prstGeom>
          <a:solidFill>
            <a:srgbClr val="070E23"/>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63240"/>
            <a:ext cx="1280160" cy="320040"/>
          </a:xfrm>
          <a:prstGeom prst="rect">
            <a:avLst/>
          </a:prstGeom>
          <a:noFill/>
        </p:spPr>
        <p:txBody>
          <a:bodyPr wrap="square" lIns="54864" rIns="54864" tIns="54864" bIns="54864" anchor="t">
            <a:spAutoFit/>
          </a:bodyPr>
          <a:lstStyle/>
          <a:p>
            <a:pPr algn="ctr">
              <a:spcAft>
                <a:spcPts val="500"/>
              </a:spcAft>
              <a:defRPr sz="2200" b="1">
                <a:solidFill>
                  <a:srgbClr val="FFAD4B"/>
                </a:solidFill>
                <a:latin typeface="Aptos"/>
              </a:defRPr>
            </a:pPr>
            <a:r>
              <a:t>2–3×</a:t>
            </a:r>
          </a:p>
        </p:txBody>
      </p:sp>
      <p:sp>
        <p:nvSpPr>
          <p:cNvPr id="10" name="TextBox 9"/>
          <p:cNvSpPr txBox="1"/>
          <p:nvPr/>
        </p:nvSpPr>
        <p:spPr>
          <a:xfrm>
            <a:off x="822960" y="4663440"/>
            <a:ext cx="2377440" cy="274320"/>
          </a:xfrm>
          <a:prstGeom prst="rect">
            <a:avLst/>
          </a:prstGeom>
          <a:noFill/>
        </p:spPr>
        <p:txBody>
          <a:bodyPr wrap="square" lIns="54864" rIns="54864" tIns="54864" bIns="54864" anchor="t">
            <a:spAutoFit/>
          </a:bodyPr>
          <a:lstStyle/>
          <a:p>
            <a:pPr algn="ctr">
              <a:spcAft>
                <a:spcPts val="500"/>
              </a:spcAft>
              <a:defRPr sz="1000" b="1">
                <a:solidFill>
                  <a:srgbClr val="ABBBD8"/>
                </a:solidFill>
                <a:latin typeface="Aptos"/>
              </a:defRPr>
            </a:pPr>
            <a:r>
              <a:t>POSSIBLE EXTRA COST</a:t>
            </a:r>
          </a:p>
        </p:txBody>
      </p:sp>
      <p:sp>
        <p:nvSpPr>
          <p:cNvPr id="11" name="Rounded Rectangle 10"/>
          <p:cNvSpPr/>
          <p:nvPr/>
        </p:nvSpPr>
        <p:spPr>
          <a:xfrm>
            <a:off x="3749039" y="2148840"/>
            <a:ext cx="3291840" cy="109728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13631" y="2295144"/>
            <a:ext cx="2962656" cy="274320"/>
          </a:xfrm>
          <a:prstGeom prst="rect">
            <a:avLst/>
          </a:prstGeom>
          <a:noFill/>
        </p:spPr>
        <p:txBody>
          <a:bodyPr wrap="square" lIns="54864" rIns="54864" tIns="54864" bIns="54864" anchor="t">
            <a:spAutoFit/>
          </a:bodyPr>
          <a:lstStyle/>
          <a:p>
            <a:pPr>
              <a:spcAft>
                <a:spcPts val="500"/>
              </a:spcAft>
              <a:defRPr sz="1300" b="1">
                <a:solidFill>
                  <a:srgbClr val="57E2A4"/>
                </a:solidFill>
                <a:latin typeface="Aptos"/>
              </a:defRPr>
            </a:pPr>
            <a:r>
              <a:t>BENEFITS</a:t>
            </a:r>
          </a:p>
        </p:txBody>
      </p:sp>
      <p:sp>
        <p:nvSpPr>
          <p:cNvPr id="13" name="TextBox 12"/>
          <p:cNvSpPr txBox="1"/>
          <p:nvPr/>
        </p:nvSpPr>
        <p:spPr>
          <a:xfrm>
            <a:off x="3913631" y="2651760"/>
            <a:ext cx="2962656" cy="502919"/>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Can catch gaps and improve polish</a:t>
            </a:r>
          </a:p>
        </p:txBody>
      </p:sp>
      <p:sp>
        <p:nvSpPr>
          <p:cNvPr id="14" name="Rounded Rectangle 13"/>
          <p:cNvSpPr/>
          <p:nvPr/>
        </p:nvSpPr>
        <p:spPr>
          <a:xfrm>
            <a:off x="3749039" y="3520440"/>
            <a:ext cx="3291840" cy="109728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13631" y="3666744"/>
            <a:ext cx="2962656" cy="274320"/>
          </a:xfrm>
          <a:prstGeom prst="rect">
            <a:avLst/>
          </a:prstGeom>
          <a:noFill/>
        </p:spPr>
        <p:txBody>
          <a:bodyPr wrap="square" lIns="54864" rIns="54864" tIns="54864" bIns="54864" anchor="t">
            <a:spAutoFit/>
          </a:bodyPr>
          <a:lstStyle/>
          <a:p>
            <a:pPr>
              <a:spcAft>
                <a:spcPts val="500"/>
              </a:spcAft>
              <a:defRPr sz="1300" b="1">
                <a:solidFill>
                  <a:srgbClr val="FFAD4B"/>
                </a:solidFill>
                <a:latin typeface="Aptos"/>
              </a:defRPr>
            </a:pPr>
            <a:r>
              <a:t>COSTS</a:t>
            </a:r>
          </a:p>
        </p:txBody>
      </p:sp>
      <p:sp>
        <p:nvSpPr>
          <p:cNvPr id="16" name="TextBox 15"/>
          <p:cNvSpPr txBox="1"/>
          <p:nvPr/>
        </p:nvSpPr>
        <p:spPr>
          <a:xfrm>
            <a:off x="3913631" y="4023360"/>
            <a:ext cx="2962656" cy="502919"/>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Extra model calls add latency and spend</a:t>
            </a:r>
          </a:p>
        </p:txBody>
      </p:sp>
      <p:sp>
        <p:nvSpPr>
          <p:cNvPr id="17" name="Rounded Rectangle 16"/>
          <p:cNvSpPr/>
          <p:nvPr/>
        </p:nvSpPr>
        <p:spPr>
          <a:xfrm>
            <a:off x="7498079" y="2148840"/>
            <a:ext cx="3840480" cy="109728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62671" y="2295144"/>
            <a:ext cx="3511296" cy="274320"/>
          </a:xfrm>
          <a:prstGeom prst="rect">
            <a:avLst/>
          </a:prstGeom>
          <a:noFill/>
        </p:spPr>
        <p:txBody>
          <a:bodyPr wrap="square" lIns="54864" rIns="54864" tIns="54864" bIns="54864" anchor="t">
            <a:spAutoFit/>
          </a:bodyPr>
          <a:lstStyle/>
          <a:p>
            <a:pPr>
              <a:spcAft>
                <a:spcPts val="500"/>
              </a:spcAft>
              <a:defRPr sz="1300" b="1">
                <a:solidFill>
                  <a:srgbClr val="9D6FFF"/>
                </a:solidFill>
                <a:latin typeface="Aptos"/>
              </a:defRPr>
            </a:pPr>
            <a:r>
              <a:t>NEEDS</a:t>
            </a:r>
          </a:p>
        </p:txBody>
      </p:sp>
      <p:sp>
        <p:nvSpPr>
          <p:cNvPr id="19" name="TextBox 18"/>
          <p:cNvSpPr txBox="1"/>
          <p:nvPr/>
        </p:nvSpPr>
        <p:spPr>
          <a:xfrm>
            <a:off x="7662671" y="2651760"/>
            <a:ext cx="3511296" cy="502919"/>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Writer + Critic prompts; loop orchestration</a:t>
            </a:r>
          </a:p>
        </p:txBody>
      </p:sp>
      <p:sp>
        <p:nvSpPr>
          <p:cNvPr id="20" name="Rounded Rectangle 19"/>
          <p:cNvSpPr/>
          <p:nvPr/>
        </p:nvSpPr>
        <p:spPr>
          <a:xfrm>
            <a:off x="7498079" y="3520440"/>
            <a:ext cx="3840480" cy="109728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3666744"/>
            <a:ext cx="3511296" cy="274320"/>
          </a:xfrm>
          <a:prstGeom prst="rect">
            <a:avLst/>
          </a:prstGeom>
          <a:noFill/>
        </p:spPr>
        <p:txBody>
          <a:bodyPr wrap="square" lIns="54864" rIns="54864" tIns="54864" bIns="54864" anchor="t">
            <a:spAutoFit/>
          </a:bodyPr>
          <a:lstStyle/>
          <a:p>
            <a:pPr>
              <a:spcAft>
                <a:spcPts val="500"/>
              </a:spcAft>
              <a:defRPr sz="1300" b="1">
                <a:solidFill>
                  <a:srgbClr val="37DCF4"/>
                </a:solidFill>
                <a:latin typeface="Aptos"/>
              </a:defRPr>
            </a:pPr>
            <a:r>
              <a:t>GUARDRAILS</a:t>
            </a:r>
          </a:p>
        </p:txBody>
      </p:sp>
      <p:sp>
        <p:nvSpPr>
          <p:cNvPr id="22" name="TextBox 21"/>
          <p:cNvSpPr txBox="1"/>
          <p:nvPr/>
        </p:nvSpPr>
        <p:spPr>
          <a:xfrm>
            <a:off x="7662671" y="4023360"/>
            <a:ext cx="3511296" cy="502919"/>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Max iterations, stop rule, evaluation</a:t>
            </a:r>
          </a:p>
        </p:txBody>
      </p:sp>
      <p:sp>
        <p:nvSpPr>
          <p:cNvPr id="23" name="TextBox 22"/>
          <p:cNvSpPr txBox="1"/>
          <p:nvPr/>
        </p:nvSpPr>
        <p:spPr>
          <a:xfrm>
            <a:off x="3566160" y="5257800"/>
            <a:ext cx="7772400" cy="320040"/>
          </a:xfrm>
          <a:prstGeom prst="rect">
            <a:avLst/>
          </a:prstGeom>
          <a:noFill/>
        </p:spPr>
        <p:txBody>
          <a:bodyPr wrap="square" lIns="54864" rIns="54864" tIns="54864" bIns="54864" anchor="t">
            <a:spAutoFit/>
          </a:bodyPr>
          <a:lstStyle/>
          <a:p>
            <a:pPr algn="ctr">
              <a:spcAft>
                <a:spcPts val="500"/>
              </a:spcAft>
              <a:defRPr sz="1300" b="1">
                <a:solidFill>
                  <a:srgbClr val="F6F8FF"/>
                </a:solidFill>
                <a:latin typeface="Aptos"/>
              </a:defRPr>
            </a:pPr>
            <a:r>
              <a:t>Use for research, analysis, or high-quality drafting—not every trivial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6  /  THE MEETING-ROOM PATTERN</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Specialists collaborate under a moderator</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Multiple agents are useful when roles are distinct and coordination adds value.</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6</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Oval 6"/>
          <p:cNvSpPr/>
          <p:nvPr/>
        </p:nvSpPr>
        <p:spPr>
          <a:xfrm>
            <a:off x="5029200" y="2148840"/>
            <a:ext cx="2011680" cy="2011680"/>
          </a:xfrm>
          <a:prstGeom prst="ellipse">
            <a:avLst/>
          </a:prstGeom>
          <a:solidFill>
            <a:srgbClr val="172B53"/>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0" y="2788920"/>
            <a:ext cx="1645920" cy="411480"/>
          </a:xfrm>
          <a:prstGeom prst="rect">
            <a:avLst/>
          </a:prstGeom>
          <a:noFill/>
        </p:spPr>
        <p:txBody>
          <a:bodyPr wrap="square" lIns="54864" rIns="54864" tIns="54864" bIns="54864" anchor="t">
            <a:spAutoFit/>
          </a:bodyPr>
          <a:lstStyle/>
          <a:p>
            <a:pPr algn="ctr">
              <a:spcAft>
                <a:spcPts val="500"/>
              </a:spcAft>
              <a:defRPr sz="1400" b="1">
                <a:solidFill>
                  <a:srgbClr val="37DCF4"/>
                </a:solidFill>
                <a:latin typeface="Aptos"/>
              </a:defRPr>
            </a:pPr>
            <a:r>
              <a:t>MODERATOR</a:t>
            </a:r>
          </a:p>
        </p:txBody>
      </p:sp>
      <p:sp>
        <p:nvSpPr>
          <p:cNvPr id="9" name="Oval 8"/>
          <p:cNvSpPr/>
          <p:nvPr/>
        </p:nvSpPr>
        <p:spPr>
          <a:xfrm>
            <a:off x="822960" y="2194560"/>
            <a:ext cx="1051560" cy="1051560"/>
          </a:xfrm>
          <a:prstGeom prst="ellipse">
            <a:avLst/>
          </a:prstGeom>
          <a:solidFill>
            <a:srgbClr val="9D6FFF"/>
          </a:solidFill>
          <a:ln>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291839"/>
            <a:ext cx="1463040" cy="228600"/>
          </a:xfrm>
          <a:prstGeom prst="rect">
            <a:avLst/>
          </a:prstGeom>
          <a:noFill/>
        </p:spPr>
        <p:txBody>
          <a:bodyPr wrap="square" lIns="54864" rIns="54864" tIns="54864" bIns="54864" anchor="t">
            <a:spAutoFit/>
          </a:bodyPr>
          <a:lstStyle/>
          <a:p>
            <a:pPr algn="ctr">
              <a:spcAft>
                <a:spcPts val="500"/>
              </a:spcAft>
              <a:defRPr sz="900" b="1">
                <a:solidFill>
                  <a:srgbClr val="9D6FFF"/>
                </a:solidFill>
                <a:latin typeface="Aptos"/>
              </a:defRPr>
            </a:pPr>
            <a:r>
              <a:t>DESIGNER</a:t>
            </a:r>
          </a:p>
        </p:txBody>
      </p:sp>
      <p:cxnSp>
        <p:nvCxnSpPr>
          <p:cNvPr id="11" name="Connector 10"/>
          <p:cNvCxnSpPr/>
          <p:nvPr/>
        </p:nvCxnSpPr>
        <p:spPr>
          <a:xfrm>
            <a:off x="1344168" y="2715768"/>
            <a:ext cx="4690872" cy="438912"/>
          </a:xfrm>
          <a:prstGeom prst="line">
            <a:avLst/>
          </a:prstGeom>
          <a:ln w="19050">
            <a:solidFill>
              <a:srgbClr val="9D6FF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686800" y="2194560"/>
            <a:ext cx="1051560" cy="1051560"/>
          </a:xfrm>
          <a:prstGeom prst="ellipse">
            <a:avLst/>
          </a:prstGeom>
          <a:solidFill>
            <a:srgbClr val="57E2A4"/>
          </a:solidFill>
          <a:ln>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3291839"/>
            <a:ext cx="1463040" cy="228600"/>
          </a:xfrm>
          <a:prstGeom prst="rect">
            <a:avLst/>
          </a:prstGeom>
          <a:noFill/>
        </p:spPr>
        <p:txBody>
          <a:bodyPr wrap="square" lIns="54864" rIns="54864" tIns="54864" bIns="54864" anchor="t">
            <a:spAutoFit/>
          </a:bodyPr>
          <a:lstStyle/>
          <a:p>
            <a:pPr algn="ctr">
              <a:spcAft>
                <a:spcPts val="500"/>
              </a:spcAft>
              <a:defRPr sz="900" b="1">
                <a:solidFill>
                  <a:srgbClr val="57E2A4"/>
                </a:solidFill>
                <a:latin typeface="Aptos"/>
              </a:defRPr>
            </a:pPr>
            <a:r>
              <a:t>ENGINEER</a:t>
            </a:r>
          </a:p>
        </p:txBody>
      </p:sp>
      <p:cxnSp>
        <p:nvCxnSpPr>
          <p:cNvPr id="14" name="Connector 13"/>
          <p:cNvCxnSpPr/>
          <p:nvPr/>
        </p:nvCxnSpPr>
        <p:spPr>
          <a:xfrm flipH="1">
            <a:off x="6035040" y="2715768"/>
            <a:ext cx="3172968" cy="438912"/>
          </a:xfrm>
          <a:prstGeom prst="line">
            <a:avLst/>
          </a:prstGeom>
          <a:ln w="19050">
            <a:solidFill>
              <a:srgbClr val="57E2A4"/>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834640" y="4160520"/>
            <a:ext cx="1051560" cy="105156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3472" y="5257800"/>
            <a:ext cx="1463040" cy="228600"/>
          </a:xfrm>
          <a:prstGeom prst="rect">
            <a:avLst/>
          </a:prstGeom>
          <a:noFill/>
        </p:spPr>
        <p:txBody>
          <a:bodyPr wrap="square" lIns="54864" rIns="54864" tIns="54864" bIns="54864" anchor="t">
            <a:spAutoFit/>
          </a:bodyPr>
          <a:lstStyle/>
          <a:p>
            <a:pPr algn="ctr">
              <a:spcAft>
                <a:spcPts val="500"/>
              </a:spcAft>
              <a:defRPr sz="900" b="1">
                <a:solidFill>
                  <a:srgbClr val="FFAD4B"/>
                </a:solidFill>
                <a:latin typeface="Aptos"/>
              </a:defRPr>
            </a:pPr>
            <a:r>
              <a:t>CRITIC</a:t>
            </a:r>
          </a:p>
        </p:txBody>
      </p:sp>
      <p:cxnSp>
        <p:nvCxnSpPr>
          <p:cNvPr id="17" name="Connector 16"/>
          <p:cNvCxnSpPr/>
          <p:nvPr/>
        </p:nvCxnSpPr>
        <p:spPr>
          <a:xfrm flipV="1">
            <a:off x="3355848" y="3154680"/>
            <a:ext cx="2679192" cy="1527048"/>
          </a:xfrm>
          <a:prstGeom prst="line">
            <a:avLst/>
          </a:prstGeom>
          <a:ln w="19050">
            <a:solidFill>
              <a:srgbClr val="FFAD4B"/>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040880" y="4160520"/>
            <a:ext cx="1051560" cy="1051560"/>
          </a:xfrm>
          <a:prstGeom prst="ellipse">
            <a:avLst/>
          </a:prstGeom>
          <a:solidFill>
            <a:srgbClr val="FF669B"/>
          </a:solidFill>
          <a:ln>
            <a:solidFill>
              <a:srgbClr val="FF6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712" y="5257800"/>
            <a:ext cx="1463040" cy="228600"/>
          </a:xfrm>
          <a:prstGeom prst="rect">
            <a:avLst/>
          </a:prstGeom>
          <a:noFill/>
        </p:spPr>
        <p:txBody>
          <a:bodyPr wrap="square" lIns="54864" rIns="54864" tIns="54864" bIns="54864" anchor="t">
            <a:spAutoFit/>
          </a:bodyPr>
          <a:lstStyle/>
          <a:p>
            <a:pPr algn="ctr">
              <a:spcAft>
                <a:spcPts val="500"/>
              </a:spcAft>
              <a:defRPr sz="900" b="1">
                <a:solidFill>
                  <a:srgbClr val="FF669B"/>
                </a:solidFill>
                <a:latin typeface="Aptos"/>
              </a:defRPr>
            </a:pPr>
            <a:r>
              <a:t>USER ADVOCATE</a:t>
            </a:r>
          </a:p>
        </p:txBody>
      </p:sp>
      <p:cxnSp>
        <p:nvCxnSpPr>
          <p:cNvPr id="20" name="Connector 19"/>
          <p:cNvCxnSpPr/>
          <p:nvPr/>
        </p:nvCxnSpPr>
        <p:spPr>
          <a:xfrm flipH="1" flipV="1">
            <a:off x="6035040" y="3154680"/>
            <a:ext cx="1527048" cy="1527048"/>
          </a:xfrm>
          <a:prstGeom prst="line">
            <a:avLst/>
          </a:prstGeom>
          <a:ln w="19050">
            <a:solidFill>
              <a:srgbClr val="FF669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280160" y="5486400"/>
            <a:ext cx="9601200" cy="41148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5596128"/>
            <a:ext cx="9326880" cy="182880"/>
          </a:xfrm>
          <a:prstGeom prst="rect">
            <a:avLst/>
          </a:prstGeom>
          <a:noFill/>
        </p:spPr>
        <p:txBody>
          <a:bodyPr wrap="square" lIns="54864" rIns="54864" tIns="54864" bIns="54864" anchor="t">
            <a:spAutoFit/>
          </a:bodyPr>
          <a:lstStyle/>
          <a:p>
            <a:pPr algn="ctr">
              <a:spcAft>
                <a:spcPts val="500"/>
              </a:spcAft>
              <a:defRPr sz="1100" b="1">
                <a:solidFill>
                  <a:srgbClr val="57E2A4"/>
                </a:solidFill>
                <a:latin typeface="Aptos"/>
              </a:defRPr>
            </a:pPr>
            <a:r>
              <a:t>SHARED STATE: goals • proposals • evidence • decisions • unresolved 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7  /  REAL-WORLD USE CASES</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Four domains. One pattern: goal → tools → action → feedback.</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Examples are illustrative; real deployments need domain-specific validation, permissions, and human oversight.</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7</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1965960"/>
            <a:ext cx="5349240" cy="137160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2286000"/>
            <a:ext cx="658368" cy="658368"/>
          </a:xfrm>
          <a:prstGeom prst="ellipse">
            <a:avLst/>
          </a:prstGeom>
          <a:solidFill>
            <a:srgbClr val="57E2A4"/>
          </a:solidFill>
          <a:ln>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50591"/>
            <a:ext cx="658368" cy="228600"/>
          </a:xfrm>
          <a:prstGeom prst="rect">
            <a:avLst/>
          </a:prstGeom>
          <a:noFill/>
        </p:spPr>
        <p:txBody>
          <a:bodyPr wrap="square" lIns="54864" rIns="54864" tIns="54864" bIns="54864" anchor="t">
            <a:spAutoFit/>
          </a:bodyPr>
          <a:lstStyle/>
          <a:p>
            <a:pPr algn="ctr">
              <a:spcAft>
                <a:spcPts val="500"/>
              </a:spcAft>
              <a:defRPr sz="1800" b="1">
                <a:solidFill>
                  <a:srgbClr val="070E23"/>
                </a:solidFill>
                <a:latin typeface="Aptos"/>
              </a:defRPr>
            </a:pPr>
            <a:r>
              <a:t>🌱</a:t>
            </a:r>
          </a:p>
        </p:txBody>
      </p:sp>
      <p:sp>
        <p:nvSpPr>
          <p:cNvPr id="10" name="TextBox 9"/>
          <p:cNvSpPr txBox="1"/>
          <p:nvPr/>
        </p:nvSpPr>
        <p:spPr>
          <a:xfrm>
            <a:off x="1691639" y="2167128"/>
            <a:ext cx="3977639" cy="228600"/>
          </a:xfrm>
          <a:prstGeom prst="rect">
            <a:avLst/>
          </a:prstGeom>
          <a:noFill/>
        </p:spPr>
        <p:txBody>
          <a:bodyPr wrap="square" lIns="54864" rIns="54864" tIns="54864" bIns="54864" anchor="t">
            <a:spAutoFit/>
          </a:bodyPr>
          <a:lstStyle/>
          <a:p>
            <a:pPr>
              <a:spcAft>
                <a:spcPts val="500"/>
              </a:spcAft>
              <a:defRPr sz="1200" b="1">
                <a:solidFill>
                  <a:srgbClr val="57E2A4"/>
                </a:solidFill>
                <a:latin typeface="Aptos"/>
              </a:defRPr>
            </a:pPr>
            <a:r>
              <a:t>AGRICULTURE</a:t>
            </a:r>
          </a:p>
        </p:txBody>
      </p:sp>
      <p:sp>
        <p:nvSpPr>
          <p:cNvPr id="11" name="TextBox 10"/>
          <p:cNvSpPr txBox="1"/>
          <p:nvPr/>
        </p:nvSpPr>
        <p:spPr>
          <a:xfrm>
            <a:off x="1691639" y="2532888"/>
            <a:ext cx="3977639" cy="566928"/>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Soil sensors + weather API</a:t>
            </a:r>
          </a:p>
          <a:p>
            <a:pPr>
              <a:spcAft>
                <a:spcPts val="500"/>
              </a:spcAft>
              <a:defRPr sz="1200" b="0">
                <a:solidFill>
                  <a:srgbClr val="F6F8FF"/>
                </a:solidFill>
                <a:latin typeface="Aptos"/>
              </a:defRPr>
            </a:pPr>
            <a:r>
              <a:t>→ irrigation recommendation</a:t>
            </a:r>
          </a:p>
        </p:txBody>
      </p:sp>
      <p:sp>
        <p:nvSpPr>
          <p:cNvPr id="12" name="Rounded Rectangle 11"/>
          <p:cNvSpPr/>
          <p:nvPr/>
        </p:nvSpPr>
        <p:spPr>
          <a:xfrm>
            <a:off x="6355080" y="1965960"/>
            <a:ext cx="5349240" cy="137160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37960" y="2286000"/>
            <a:ext cx="658368" cy="658368"/>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450591"/>
            <a:ext cx="658368" cy="228600"/>
          </a:xfrm>
          <a:prstGeom prst="rect">
            <a:avLst/>
          </a:prstGeom>
          <a:noFill/>
        </p:spPr>
        <p:txBody>
          <a:bodyPr wrap="square" lIns="54864" rIns="54864" tIns="54864" bIns="54864" anchor="t">
            <a:spAutoFit/>
          </a:bodyPr>
          <a:lstStyle/>
          <a:p>
            <a:pPr algn="ctr">
              <a:spcAft>
                <a:spcPts val="500"/>
              </a:spcAft>
              <a:defRPr sz="1800" b="1">
                <a:solidFill>
                  <a:srgbClr val="070E23"/>
                </a:solidFill>
                <a:latin typeface="Aptos"/>
              </a:defRPr>
            </a:pPr>
            <a:r>
              <a:t>!</a:t>
            </a:r>
          </a:p>
        </p:txBody>
      </p:sp>
      <p:sp>
        <p:nvSpPr>
          <p:cNvPr id="15" name="TextBox 14"/>
          <p:cNvSpPr txBox="1"/>
          <p:nvPr/>
        </p:nvSpPr>
        <p:spPr>
          <a:xfrm>
            <a:off x="7406640" y="2167128"/>
            <a:ext cx="3977639" cy="228600"/>
          </a:xfrm>
          <a:prstGeom prst="rect">
            <a:avLst/>
          </a:prstGeom>
          <a:noFill/>
        </p:spPr>
        <p:txBody>
          <a:bodyPr wrap="square" lIns="54864" rIns="54864" tIns="54864" bIns="54864" anchor="t">
            <a:spAutoFit/>
          </a:bodyPr>
          <a:lstStyle/>
          <a:p>
            <a:pPr>
              <a:spcAft>
                <a:spcPts val="500"/>
              </a:spcAft>
              <a:defRPr sz="1200" b="1">
                <a:solidFill>
                  <a:srgbClr val="FFAD4B"/>
                </a:solidFill>
                <a:latin typeface="Aptos"/>
              </a:defRPr>
            </a:pPr>
            <a:r>
              <a:t>DISASTER RESPONSE</a:t>
            </a:r>
          </a:p>
        </p:txBody>
      </p:sp>
      <p:sp>
        <p:nvSpPr>
          <p:cNvPr id="16" name="TextBox 15"/>
          <p:cNvSpPr txBox="1"/>
          <p:nvPr/>
        </p:nvSpPr>
        <p:spPr>
          <a:xfrm>
            <a:off x="7406640" y="2532888"/>
            <a:ext cx="3977639" cy="566928"/>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Satellite + verified reports</a:t>
            </a:r>
          </a:p>
          <a:p>
            <a:pPr>
              <a:spcAft>
                <a:spcPts val="500"/>
              </a:spcAft>
              <a:defRPr sz="1200" b="0">
                <a:solidFill>
                  <a:srgbClr val="F6F8FF"/>
                </a:solidFill>
                <a:latin typeface="Aptos"/>
              </a:defRPr>
            </a:pPr>
            <a:r>
              <a:t>→ coordinate aid priorities</a:t>
            </a:r>
          </a:p>
        </p:txBody>
      </p:sp>
      <p:sp>
        <p:nvSpPr>
          <p:cNvPr id="17" name="Rounded Rectangle 16"/>
          <p:cNvSpPr/>
          <p:nvPr/>
        </p:nvSpPr>
        <p:spPr>
          <a:xfrm>
            <a:off x="640080" y="3657600"/>
            <a:ext cx="5349240" cy="137160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59" y="3977639"/>
            <a:ext cx="658368" cy="658368"/>
          </a:xfrm>
          <a:prstGeom prst="ellipse">
            <a:avLst/>
          </a:prstGeom>
          <a:solidFill>
            <a:srgbClr val="9D6FFF"/>
          </a:solidFill>
          <a:ln>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142232"/>
            <a:ext cx="658368" cy="228600"/>
          </a:xfrm>
          <a:prstGeom prst="rect">
            <a:avLst/>
          </a:prstGeom>
          <a:noFill/>
        </p:spPr>
        <p:txBody>
          <a:bodyPr wrap="square" lIns="54864" rIns="54864" tIns="54864" bIns="54864" anchor="t">
            <a:spAutoFit/>
          </a:bodyPr>
          <a:lstStyle/>
          <a:p>
            <a:pPr algn="ctr">
              <a:spcAft>
                <a:spcPts val="500"/>
              </a:spcAft>
              <a:defRPr sz="1800" b="1">
                <a:solidFill>
                  <a:srgbClr val="070E23"/>
                </a:solidFill>
                <a:latin typeface="Aptos"/>
              </a:defRPr>
            </a:pPr>
            <a:r>
              <a:t>$</a:t>
            </a:r>
          </a:p>
        </p:txBody>
      </p:sp>
      <p:sp>
        <p:nvSpPr>
          <p:cNvPr id="20" name="TextBox 19"/>
          <p:cNvSpPr txBox="1"/>
          <p:nvPr/>
        </p:nvSpPr>
        <p:spPr>
          <a:xfrm>
            <a:off x="1691639" y="3858768"/>
            <a:ext cx="3977639" cy="228600"/>
          </a:xfrm>
          <a:prstGeom prst="rect">
            <a:avLst/>
          </a:prstGeom>
          <a:noFill/>
        </p:spPr>
        <p:txBody>
          <a:bodyPr wrap="square" lIns="54864" rIns="54864" tIns="54864" bIns="54864" anchor="t">
            <a:spAutoFit/>
          </a:bodyPr>
          <a:lstStyle/>
          <a:p>
            <a:pPr>
              <a:spcAft>
                <a:spcPts val="500"/>
              </a:spcAft>
              <a:defRPr sz="1200" b="1">
                <a:solidFill>
                  <a:srgbClr val="9D6FFF"/>
                </a:solidFill>
                <a:latin typeface="Aptos"/>
              </a:defRPr>
            </a:pPr>
            <a:r>
              <a:t>E-COMMERCE</a:t>
            </a:r>
          </a:p>
        </p:txBody>
      </p:sp>
      <p:sp>
        <p:nvSpPr>
          <p:cNvPr id="21" name="TextBox 20"/>
          <p:cNvSpPr txBox="1"/>
          <p:nvPr/>
        </p:nvSpPr>
        <p:spPr>
          <a:xfrm>
            <a:off x="1691639" y="4224528"/>
            <a:ext cx="3977639" cy="566928"/>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Sales signals + campaign data</a:t>
            </a:r>
          </a:p>
          <a:p>
            <a:pPr>
              <a:spcAft>
                <a:spcPts val="500"/>
              </a:spcAft>
              <a:defRPr sz="1200" b="0">
                <a:solidFill>
                  <a:srgbClr val="F6F8FF"/>
                </a:solidFill>
                <a:latin typeface="Aptos"/>
              </a:defRPr>
            </a:pPr>
            <a:r>
              <a:t>→ suggest spend adjustments</a:t>
            </a:r>
          </a:p>
        </p:txBody>
      </p:sp>
      <p:sp>
        <p:nvSpPr>
          <p:cNvPr id="22" name="Rounded Rectangle 21"/>
          <p:cNvSpPr/>
          <p:nvPr/>
        </p:nvSpPr>
        <p:spPr>
          <a:xfrm>
            <a:off x="6355080" y="3657600"/>
            <a:ext cx="5349240" cy="137160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37960" y="3977639"/>
            <a:ext cx="658368" cy="658368"/>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4142232"/>
            <a:ext cx="658368" cy="228600"/>
          </a:xfrm>
          <a:prstGeom prst="rect">
            <a:avLst/>
          </a:prstGeom>
          <a:noFill/>
        </p:spPr>
        <p:txBody>
          <a:bodyPr wrap="square" lIns="54864" rIns="54864" tIns="54864" bIns="54864" anchor="t">
            <a:spAutoFit/>
          </a:bodyPr>
          <a:lstStyle/>
          <a:p>
            <a:pPr algn="ctr">
              <a:spcAft>
                <a:spcPts val="500"/>
              </a:spcAft>
              <a:defRPr sz="1800" b="1">
                <a:solidFill>
                  <a:srgbClr val="070E23"/>
                </a:solidFill>
                <a:latin typeface="Aptos"/>
              </a:defRPr>
            </a:pPr>
            <a:r>
              <a:t>+</a:t>
            </a:r>
          </a:p>
        </p:txBody>
      </p:sp>
      <p:sp>
        <p:nvSpPr>
          <p:cNvPr id="25" name="TextBox 24"/>
          <p:cNvSpPr txBox="1"/>
          <p:nvPr/>
        </p:nvSpPr>
        <p:spPr>
          <a:xfrm>
            <a:off x="7406640" y="3858768"/>
            <a:ext cx="3977639" cy="228600"/>
          </a:xfrm>
          <a:prstGeom prst="rect">
            <a:avLst/>
          </a:prstGeom>
          <a:noFill/>
        </p:spPr>
        <p:txBody>
          <a:bodyPr wrap="square" lIns="54864" rIns="54864" tIns="54864" bIns="54864" anchor="t">
            <a:spAutoFit/>
          </a:bodyPr>
          <a:lstStyle/>
          <a:p>
            <a:pPr>
              <a:spcAft>
                <a:spcPts val="500"/>
              </a:spcAft>
              <a:defRPr sz="1200" b="1">
                <a:solidFill>
                  <a:srgbClr val="37DCF4"/>
                </a:solidFill>
                <a:latin typeface="Aptos"/>
              </a:defRPr>
            </a:pPr>
            <a:r>
              <a:t>HEALTHCARE / SCIENCE</a:t>
            </a:r>
          </a:p>
        </p:txBody>
      </p:sp>
      <p:sp>
        <p:nvSpPr>
          <p:cNvPr id="26" name="TextBox 25"/>
          <p:cNvSpPr txBox="1"/>
          <p:nvPr/>
        </p:nvSpPr>
        <p:spPr>
          <a:xfrm>
            <a:off x="7406640" y="4224528"/>
            <a:ext cx="3977639" cy="566928"/>
          </a:xfrm>
          <a:prstGeom prst="rect">
            <a:avLst/>
          </a:prstGeom>
          <a:noFill/>
        </p:spPr>
        <p:txBody>
          <a:bodyPr wrap="square" lIns="54864" rIns="54864" tIns="54864" bIns="54864" anchor="t">
            <a:spAutoFit/>
          </a:bodyPr>
          <a:lstStyle/>
          <a:p>
            <a:pPr>
              <a:spcAft>
                <a:spcPts val="500"/>
              </a:spcAft>
              <a:defRPr sz="1200" b="0">
                <a:solidFill>
                  <a:srgbClr val="F6F8FF"/>
                </a:solidFill>
                <a:latin typeface="Aptos"/>
              </a:defRPr>
            </a:pPr>
            <a:r>
              <a:t>Literature + databases + simulations</a:t>
            </a:r>
          </a:p>
          <a:p>
            <a:pPr>
              <a:spcAft>
                <a:spcPts val="500"/>
              </a:spcAft>
              <a:defRPr sz="1200" b="0">
                <a:solidFill>
                  <a:srgbClr val="F6F8FF"/>
                </a:solidFill>
                <a:latin typeface="Aptos"/>
              </a:defRPr>
            </a:pPr>
            <a:r>
              <a:t>→ shortlist research candidates</a:t>
            </a:r>
          </a:p>
        </p:txBody>
      </p:sp>
      <p:sp>
        <p:nvSpPr>
          <p:cNvPr id="27" name="Rounded Rectangle 26"/>
          <p:cNvSpPr/>
          <p:nvPr/>
        </p:nvSpPr>
        <p:spPr>
          <a:xfrm>
            <a:off x="1097280" y="5532120"/>
            <a:ext cx="9966960" cy="411480"/>
          </a:xfrm>
          <a:prstGeom prst="roundRect">
            <a:avLst/>
          </a:prstGeom>
          <a:solidFill>
            <a:srgbClr val="172B53"/>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5632704"/>
            <a:ext cx="9692640" cy="182880"/>
          </a:xfrm>
          <a:prstGeom prst="rect">
            <a:avLst/>
          </a:prstGeom>
          <a:noFill/>
        </p:spPr>
        <p:txBody>
          <a:bodyPr wrap="square" lIns="54864" rIns="54864" tIns="54864" bIns="54864" anchor="t">
            <a:spAutoFit/>
          </a:bodyPr>
          <a:lstStyle/>
          <a:p>
            <a:pPr algn="ctr">
              <a:spcAft>
                <a:spcPts val="500"/>
              </a:spcAft>
              <a:defRPr sz="1200" b="1">
                <a:solidFill>
                  <a:srgbClr val="FFAD4B"/>
                </a:solidFill>
                <a:latin typeface="Aptos"/>
              </a:defRPr>
            </a:pPr>
            <a:r>
              <a:t>AUDIENCE CHALLENGE: What is one agent idea for your industry or daily life?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8  /  ARCHITECTURE MINDSET</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Building an agent is not the same as building Agentic AI</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One agent is a component. An agentic system coordinates components, tools, state, and governance.</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8</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640080" y="2148840"/>
            <a:ext cx="4937760" cy="292608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95144"/>
            <a:ext cx="4608576" cy="274320"/>
          </a:xfrm>
          <a:prstGeom prst="rect">
            <a:avLst/>
          </a:prstGeom>
          <a:noFill/>
        </p:spPr>
        <p:txBody>
          <a:bodyPr wrap="square" lIns="54864" rIns="54864" tIns="54864" bIns="54864" anchor="t">
            <a:spAutoFit/>
          </a:bodyPr>
          <a:lstStyle/>
          <a:p>
            <a:pPr>
              <a:spcAft>
                <a:spcPts val="500"/>
              </a:spcAft>
              <a:defRPr sz="1500" b="1">
                <a:solidFill>
                  <a:srgbClr val="37DCF4"/>
                </a:solidFill>
                <a:latin typeface="Aptos"/>
              </a:defRPr>
            </a:pPr>
            <a:r>
              <a:t>BUILD ONE AGENT</a:t>
            </a:r>
          </a:p>
        </p:txBody>
      </p:sp>
      <p:sp>
        <p:nvSpPr>
          <p:cNvPr id="9" name="TextBox 8"/>
          <p:cNvSpPr txBox="1"/>
          <p:nvPr/>
        </p:nvSpPr>
        <p:spPr>
          <a:xfrm>
            <a:off x="804671" y="2651760"/>
            <a:ext cx="4608576" cy="2331720"/>
          </a:xfrm>
          <a:prstGeom prst="rect">
            <a:avLst/>
          </a:prstGeom>
          <a:noFill/>
        </p:spPr>
        <p:txBody>
          <a:bodyPr wrap="square" lIns="54864" rIns="54864" tIns="54864" bIns="54864" anchor="t">
            <a:spAutoFit/>
          </a:bodyPr>
          <a:lstStyle/>
          <a:p>
            <a:pPr>
              <a:spcAft>
                <a:spcPts val="500"/>
              </a:spcAft>
              <a:defRPr sz="1500" b="0">
                <a:solidFill>
                  <a:srgbClr val="F6F8FF"/>
                </a:solidFill>
                <a:latin typeface="Aptos"/>
              </a:defRPr>
            </a:pPr>
            <a:r>
              <a:t>System prompt</a:t>
            </a:r>
          </a:p>
          <a:p>
            <a:pPr>
              <a:spcAft>
                <a:spcPts val="500"/>
              </a:spcAft>
              <a:defRPr sz="1500" b="0">
                <a:solidFill>
                  <a:srgbClr val="F6F8FF"/>
                </a:solidFill>
                <a:latin typeface="Aptos"/>
              </a:defRPr>
            </a:pPr>
            <a:r>
              <a:t>Model</a:t>
            </a:r>
          </a:p>
          <a:p>
            <a:pPr>
              <a:spcAft>
                <a:spcPts val="500"/>
              </a:spcAft>
              <a:defRPr sz="1500" b="0">
                <a:solidFill>
                  <a:srgbClr val="F6F8FF"/>
                </a:solidFill>
                <a:latin typeface="Aptos"/>
              </a:defRPr>
            </a:pPr>
            <a:r>
              <a:t>Tools</a:t>
            </a:r>
          </a:p>
          <a:p>
            <a:pPr>
              <a:spcAft>
                <a:spcPts val="500"/>
              </a:spcAft>
              <a:defRPr sz="1500" b="0">
                <a:solidFill>
                  <a:srgbClr val="F6F8FF"/>
                </a:solidFill>
                <a:latin typeface="Aptos"/>
              </a:defRPr>
            </a:pPr>
            <a:r>
              <a:t>Memory / task state</a:t>
            </a:r>
          </a:p>
          <a:p>
            <a:pPr>
              <a:spcAft>
                <a:spcPts val="500"/>
              </a:spcAft>
              <a:defRPr sz="1500" b="0">
                <a:solidFill>
                  <a:srgbClr val="F6F8FF"/>
                </a:solidFill>
                <a:latin typeface="Aptos"/>
              </a:defRPr>
            </a:pPr>
            <a:r>
              <a:t>Evaluation for its role</a:t>
            </a:r>
          </a:p>
        </p:txBody>
      </p:sp>
      <p:sp>
        <p:nvSpPr>
          <p:cNvPr id="10" name="Rounded Rectangle 9"/>
          <p:cNvSpPr/>
          <p:nvPr/>
        </p:nvSpPr>
        <p:spPr>
          <a:xfrm>
            <a:off x="6583680" y="2148840"/>
            <a:ext cx="4937760" cy="292608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48272" y="2295144"/>
            <a:ext cx="4608576" cy="274320"/>
          </a:xfrm>
          <a:prstGeom prst="rect">
            <a:avLst/>
          </a:prstGeom>
          <a:noFill/>
        </p:spPr>
        <p:txBody>
          <a:bodyPr wrap="square" lIns="54864" rIns="54864" tIns="54864" bIns="54864" anchor="t">
            <a:spAutoFit/>
          </a:bodyPr>
          <a:lstStyle/>
          <a:p>
            <a:pPr>
              <a:spcAft>
                <a:spcPts val="500"/>
              </a:spcAft>
              <a:defRPr sz="1500" b="1">
                <a:solidFill>
                  <a:srgbClr val="9D6FFF"/>
                </a:solidFill>
                <a:latin typeface="Aptos"/>
              </a:defRPr>
            </a:pPr>
            <a:r>
              <a:t>BUILD AN AGENTIC SYSTEM</a:t>
            </a:r>
          </a:p>
        </p:txBody>
      </p:sp>
      <p:sp>
        <p:nvSpPr>
          <p:cNvPr id="12" name="TextBox 11"/>
          <p:cNvSpPr txBox="1"/>
          <p:nvPr/>
        </p:nvSpPr>
        <p:spPr>
          <a:xfrm>
            <a:off x="6748272" y="2651760"/>
            <a:ext cx="4608576" cy="2331720"/>
          </a:xfrm>
          <a:prstGeom prst="rect">
            <a:avLst/>
          </a:prstGeom>
          <a:noFill/>
        </p:spPr>
        <p:txBody>
          <a:bodyPr wrap="square" lIns="54864" rIns="54864" tIns="54864" bIns="54864" anchor="t">
            <a:spAutoFit/>
          </a:bodyPr>
          <a:lstStyle/>
          <a:p>
            <a:pPr>
              <a:spcAft>
                <a:spcPts val="500"/>
              </a:spcAft>
              <a:defRPr sz="1400" b="0">
                <a:solidFill>
                  <a:srgbClr val="F6F8FF"/>
                </a:solidFill>
                <a:latin typeface="Aptos"/>
              </a:defRPr>
            </a:pPr>
            <a:r>
              <a:t>Inter-agent communication</a:t>
            </a:r>
          </a:p>
          <a:p>
            <a:pPr>
              <a:spcAft>
                <a:spcPts val="500"/>
              </a:spcAft>
              <a:defRPr sz="1400" b="0">
                <a:solidFill>
                  <a:srgbClr val="F6F8FF"/>
                </a:solidFill>
                <a:latin typeface="Aptos"/>
              </a:defRPr>
            </a:pPr>
            <a:r>
              <a:t>Orchestration / choreography</a:t>
            </a:r>
          </a:p>
          <a:p>
            <a:pPr>
              <a:spcAft>
                <a:spcPts val="500"/>
              </a:spcAft>
              <a:defRPr sz="1400" b="0">
                <a:solidFill>
                  <a:srgbClr val="F6F8FF"/>
                </a:solidFill>
                <a:latin typeface="Aptos"/>
              </a:defRPr>
            </a:pPr>
            <a:r>
              <a:t>Shared state + conflict handling</a:t>
            </a:r>
          </a:p>
          <a:p>
            <a:pPr>
              <a:spcAft>
                <a:spcPts val="500"/>
              </a:spcAft>
              <a:defRPr sz="1400" b="0">
                <a:solidFill>
                  <a:srgbClr val="F6F8FF"/>
                </a:solidFill>
                <a:latin typeface="Aptos"/>
              </a:defRPr>
            </a:pPr>
            <a:r>
              <a:t>Permissions + observability</a:t>
            </a:r>
          </a:p>
          <a:p>
            <a:pPr>
              <a:spcAft>
                <a:spcPts val="500"/>
              </a:spcAft>
              <a:defRPr sz="1400" b="0">
                <a:solidFill>
                  <a:srgbClr val="F6F8FF"/>
                </a:solidFill>
                <a:latin typeface="Aptos"/>
              </a:defRPr>
            </a:pPr>
            <a:r>
              <a:t>End-to-end evaluation</a:t>
            </a:r>
          </a:p>
        </p:txBody>
      </p:sp>
      <p:sp>
        <p:nvSpPr>
          <p:cNvPr id="13" name="Oval 12"/>
          <p:cNvSpPr/>
          <p:nvPr/>
        </p:nvSpPr>
        <p:spPr>
          <a:xfrm>
            <a:off x="5623560" y="3108960"/>
            <a:ext cx="777240" cy="77724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0" y="3328416"/>
            <a:ext cx="777240" cy="228600"/>
          </a:xfrm>
          <a:prstGeom prst="rect">
            <a:avLst/>
          </a:prstGeom>
          <a:noFill/>
        </p:spPr>
        <p:txBody>
          <a:bodyPr wrap="square" lIns="54864" rIns="54864" tIns="54864" bIns="54864" anchor="t">
            <a:spAutoFit/>
          </a:bodyPr>
          <a:lstStyle/>
          <a:p>
            <a:pPr algn="ctr">
              <a:spcAft>
                <a:spcPts val="500"/>
              </a:spcAft>
              <a:defRPr sz="2300" b="1">
                <a:solidFill>
                  <a:srgbClr val="070E23"/>
                </a:solidFill>
                <a:latin typeface="Aptos"/>
              </a:defRPr>
            </a:pPr>
            <a:r>
              <a:t>→</a:t>
            </a:r>
          </a:p>
        </p:txBody>
      </p:sp>
      <p:sp>
        <p:nvSpPr>
          <p:cNvPr id="15" name="TextBox 14"/>
          <p:cNvSpPr txBox="1"/>
          <p:nvPr/>
        </p:nvSpPr>
        <p:spPr>
          <a:xfrm>
            <a:off x="1188720" y="5394960"/>
            <a:ext cx="9875520" cy="320040"/>
          </a:xfrm>
          <a:prstGeom prst="rect">
            <a:avLst/>
          </a:prstGeom>
          <a:noFill/>
        </p:spPr>
        <p:txBody>
          <a:bodyPr wrap="square" lIns="54864" rIns="54864" tIns="54864" bIns="54864" anchor="t">
            <a:spAutoFit/>
          </a:bodyPr>
          <a:lstStyle/>
          <a:p>
            <a:pPr algn="ctr">
              <a:spcAft>
                <a:spcPts val="500"/>
              </a:spcAft>
              <a:defRPr sz="1400" b="1">
                <a:solidFill>
                  <a:srgbClr val="57E2A4"/>
                </a:solidFill>
                <a:latin typeface="Aptos"/>
              </a:defRPr>
            </a:pPr>
            <a:r>
              <a:t>ANALOGY: One car vs. the traffic system that coordinates many vehicles.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9  /  BUILD RESPONSIBLY</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Mind + hands + voice must be governed</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The enterprise question is not only “Can we build it?” but “Can we operate it responsibly?”</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9</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594360" y="2240280"/>
            <a:ext cx="2514600" cy="164592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44752" y="2450592"/>
            <a:ext cx="777240" cy="777240"/>
          </a:xfrm>
          <a:prstGeom prst="ellipse">
            <a:avLst/>
          </a:prstGeom>
          <a:solidFill>
            <a:srgbClr val="37DCF4"/>
          </a:solidFill>
          <a:ln>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44752" y="2670048"/>
            <a:ext cx="777240" cy="256032"/>
          </a:xfrm>
          <a:prstGeom prst="rect">
            <a:avLst/>
          </a:prstGeom>
          <a:noFill/>
        </p:spPr>
        <p:txBody>
          <a:bodyPr wrap="square" lIns="54864" rIns="54864" tIns="54864" bIns="54864" anchor="t">
            <a:spAutoFit/>
          </a:bodyPr>
          <a:lstStyle/>
          <a:p>
            <a:pPr algn="ctr">
              <a:spcAft>
                <a:spcPts val="500"/>
              </a:spcAft>
              <a:defRPr sz="2000" b="1">
                <a:solidFill>
                  <a:srgbClr val="070E23"/>
                </a:solidFill>
                <a:latin typeface="Aptos"/>
              </a:defRPr>
            </a:pPr>
            <a:r>
              <a:t>◉</a:t>
            </a:r>
          </a:p>
        </p:txBody>
      </p:sp>
      <p:sp>
        <p:nvSpPr>
          <p:cNvPr id="10" name="TextBox 9"/>
          <p:cNvSpPr txBox="1"/>
          <p:nvPr/>
        </p:nvSpPr>
        <p:spPr>
          <a:xfrm>
            <a:off x="731520" y="3337560"/>
            <a:ext cx="2240280" cy="228600"/>
          </a:xfrm>
          <a:prstGeom prst="rect">
            <a:avLst/>
          </a:prstGeom>
          <a:noFill/>
        </p:spPr>
        <p:txBody>
          <a:bodyPr wrap="square" lIns="54864" rIns="54864" tIns="54864" bIns="54864" anchor="t">
            <a:spAutoFit/>
          </a:bodyPr>
          <a:lstStyle/>
          <a:p>
            <a:pPr algn="ctr">
              <a:spcAft>
                <a:spcPts val="500"/>
              </a:spcAft>
              <a:defRPr sz="1200" b="1">
                <a:solidFill>
                  <a:srgbClr val="37DCF4"/>
                </a:solidFill>
                <a:latin typeface="Aptos"/>
              </a:defRPr>
            </a:pPr>
            <a:r>
              <a:t>MIND</a:t>
            </a:r>
          </a:p>
        </p:txBody>
      </p:sp>
      <p:sp>
        <p:nvSpPr>
          <p:cNvPr id="11" name="TextBox 10"/>
          <p:cNvSpPr txBox="1"/>
          <p:nvPr/>
        </p:nvSpPr>
        <p:spPr>
          <a:xfrm>
            <a:off x="731520" y="3611880"/>
            <a:ext cx="2240280" cy="201168"/>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Context + reasoning</a:t>
            </a:r>
          </a:p>
        </p:txBody>
      </p:sp>
      <p:sp>
        <p:nvSpPr>
          <p:cNvPr id="12" name="Rounded Rectangle 11"/>
          <p:cNvSpPr/>
          <p:nvPr/>
        </p:nvSpPr>
        <p:spPr>
          <a:xfrm>
            <a:off x="3502152" y="2240280"/>
            <a:ext cx="2514600" cy="1645920"/>
          </a:xfrm>
          <a:prstGeom prst="roundRect">
            <a:avLst/>
          </a:prstGeom>
          <a:solidFill>
            <a:srgbClr val="0F1D3E"/>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52544" y="2450592"/>
            <a:ext cx="777240" cy="777240"/>
          </a:xfrm>
          <a:prstGeom prst="ellipse">
            <a:avLst/>
          </a:prstGeom>
          <a:solidFill>
            <a:srgbClr val="9D6FFF"/>
          </a:solidFill>
          <a:ln>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2670048"/>
            <a:ext cx="777240" cy="256032"/>
          </a:xfrm>
          <a:prstGeom prst="rect">
            <a:avLst/>
          </a:prstGeom>
          <a:noFill/>
        </p:spPr>
        <p:txBody>
          <a:bodyPr wrap="square" lIns="54864" rIns="54864" tIns="54864" bIns="54864" anchor="t">
            <a:spAutoFit/>
          </a:bodyPr>
          <a:lstStyle/>
          <a:p>
            <a:pPr algn="ctr">
              <a:spcAft>
                <a:spcPts val="500"/>
              </a:spcAft>
              <a:defRPr sz="2000" b="1">
                <a:solidFill>
                  <a:srgbClr val="070E23"/>
                </a:solidFill>
                <a:latin typeface="Aptos"/>
              </a:defRPr>
            </a:pPr>
            <a:r>
              <a:t>⚙</a:t>
            </a:r>
          </a:p>
        </p:txBody>
      </p:sp>
      <p:sp>
        <p:nvSpPr>
          <p:cNvPr id="15" name="TextBox 14"/>
          <p:cNvSpPr txBox="1"/>
          <p:nvPr/>
        </p:nvSpPr>
        <p:spPr>
          <a:xfrm>
            <a:off x="3639312" y="3337560"/>
            <a:ext cx="2240280" cy="228600"/>
          </a:xfrm>
          <a:prstGeom prst="rect">
            <a:avLst/>
          </a:prstGeom>
          <a:noFill/>
        </p:spPr>
        <p:txBody>
          <a:bodyPr wrap="square" lIns="54864" rIns="54864" tIns="54864" bIns="54864" anchor="t">
            <a:spAutoFit/>
          </a:bodyPr>
          <a:lstStyle/>
          <a:p>
            <a:pPr algn="ctr">
              <a:spcAft>
                <a:spcPts val="500"/>
              </a:spcAft>
              <a:defRPr sz="1200" b="1">
                <a:solidFill>
                  <a:srgbClr val="9D6FFF"/>
                </a:solidFill>
                <a:latin typeface="Aptos"/>
              </a:defRPr>
            </a:pPr>
            <a:r>
              <a:t>HANDS</a:t>
            </a:r>
          </a:p>
        </p:txBody>
      </p:sp>
      <p:sp>
        <p:nvSpPr>
          <p:cNvPr id="16" name="TextBox 15"/>
          <p:cNvSpPr txBox="1"/>
          <p:nvPr/>
        </p:nvSpPr>
        <p:spPr>
          <a:xfrm>
            <a:off x="3639312" y="3611880"/>
            <a:ext cx="2240280" cy="201168"/>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Approved tools</a:t>
            </a:r>
          </a:p>
        </p:txBody>
      </p:sp>
      <p:sp>
        <p:nvSpPr>
          <p:cNvPr id="17" name="Rounded Rectangle 16"/>
          <p:cNvSpPr/>
          <p:nvPr/>
        </p:nvSpPr>
        <p:spPr>
          <a:xfrm>
            <a:off x="6409944" y="2240280"/>
            <a:ext cx="2514600" cy="1645920"/>
          </a:xfrm>
          <a:prstGeom prst="roundRect">
            <a:avLst/>
          </a:prstGeom>
          <a:solidFill>
            <a:srgbClr val="0F1D3E"/>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60336" y="2450592"/>
            <a:ext cx="777240" cy="777240"/>
          </a:xfrm>
          <a:prstGeom prst="ellipse">
            <a:avLst/>
          </a:prstGeom>
          <a:solidFill>
            <a:srgbClr val="FFAD4B"/>
          </a:solidFill>
          <a:ln>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0336" y="2670048"/>
            <a:ext cx="777240" cy="256032"/>
          </a:xfrm>
          <a:prstGeom prst="rect">
            <a:avLst/>
          </a:prstGeom>
          <a:noFill/>
        </p:spPr>
        <p:txBody>
          <a:bodyPr wrap="square" lIns="54864" rIns="54864" tIns="54864" bIns="54864" anchor="t">
            <a:spAutoFit/>
          </a:bodyPr>
          <a:lstStyle/>
          <a:p>
            <a:pPr algn="ctr">
              <a:spcAft>
                <a:spcPts val="500"/>
              </a:spcAft>
              <a:defRPr sz="2000" b="1">
                <a:solidFill>
                  <a:srgbClr val="070E23"/>
                </a:solidFill>
                <a:latin typeface="Aptos"/>
              </a:defRPr>
            </a:pPr>
            <a:r>
              <a:t>↔</a:t>
            </a:r>
          </a:p>
        </p:txBody>
      </p:sp>
      <p:sp>
        <p:nvSpPr>
          <p:cNvPr id="20" name="TextBox 19"/>
          <p:cNvSpPr txBox="1"/>
          <p:nvPr/>
        </p:nvSpPr>
        <p:spPr>
          <a:xfrm>
            <a:off x="6547104" y="3337560"/>
            <a:ext cx="2240280" cy="228600"/>
          </a:xfrm>
          <a:prstGeom prst="rect">
            <a:avLst/>
          </a:prstGeom>
          <a:noFill/>
        </p:spPr>
        <p:txBody>
          <a:bodyPr wrap="square" lIns="54864" rIns="54864" tIns="54864" bIns="54864" anchor="t">
            <a:spAutoFit/>
          </a:bodyPr>
          <a:lstStyle/>
          <a:p>
            <a:pPr algn="ctr">
              <a:spcAft>
                <a:spcPts val="500"/>
              </a:spcAft>
              <a:defRPr sz="1200" b="1">
                <a:solidFill>
                  <a:srgbClr val="FFAD4B"/>
                </a:solidFill>
                <a:latin typeface="Aptos"/>
              </a:defRPr>
            </a:pPr>
            <a:r>
              <a:t>VOICE</a:t>
            </a:r>
          </a:p>
        </p:txBody>
      </p:sp>
      <p:sp>
        <p:nvSpPr>
          <p:cNvPr id="21" name="TextBox 20"/>
          <p:cNvSpPr txBox="1"/>
          <p:nvPr/>
        </p:nvSpPr>
        <p:spPr>
          <a:xfrm>
            <a:off x="6547104" y="3611880"/>
            <a:ext cx="2240280" cy="201168"/>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Protocols / interfaces</a:t>
            </a:r>
          </a:p>
        </p:txBody>
      </p:sp>
      <p:sp>
        <p:nvSpPr>
          <p:cNvPr id="22" name="Rounded Rectangle 21"/>
          <p:cNvSpPr/>
          <p:nvPr/>
        </p:nvSpPr>
        <p:spPr>
          <a:xfrm>
            <a:off x="9317736" y="2240280"/>
            <a:ext cx="2514600" cy="1645920"/>
          </a:xfrm>
          <a:prstGeom prst="roundRect">
            <a:avLst/>
          </a:prstGeom>
          <a:solidFill>
            <a:srgbClr val="0F1D3E"/>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68128" y="2450592"/>
            <a:ext cx="777240" cy="777240"/>
          </a:xfrm>
          <a:prstGeom prst="ellipse">
            <a:avLst/>
          </a:prstGeom>
          <a:solidFill>
            <a:srgbClr val="57E2A4"/>
          </a:solidFill>
          <a:ln>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68128" y="2670048"/>
            <a:ext cx="777240" cy="256032"/>
          </a:xfrm>
          <a:prstGeom prst="rect">
            <a:avLst/>
          </a:prstGeom>
          <a:noFill/>
        </p:spPr>
        <p:txBody>
          <a:bodyPr wrap="square" lIns="54864" rIns="54864" tIns="54864" bIns="54864" anchor="t">
            <a:spAutoFit/>
          </a:bodyPr>
          <a:lstStyle/>
          <a:p>
            <a:pPr algn="ctr">
              <a:spcAft>
                <a:spcPts val="500"/>
              </a:spcAft>
              <a:defRPr sz="2000" b="1">
                <a:solidFill>
                  <a:srgbClr val="070E23"/>
                </a:solidFill>
                <a:latin typeface="Aptos"/>
              </a:defRPr>
            </a:pPr>
            <a:r>
              <a:t>✓</a:t>
            </a:r>
          </a:p>
        </p:txBody>
      </p:sp>
      <p:sp>
        <p:nvSpPr>
          <p:cNvPr id="25" name="TextBox 24"/>
          <p:cNvSpPr txBox="1"/>
          <p:nvPr/>
        </p:nvSpPr>
        <p:spPr>
          <a:xfrm>
            <a:off x="9454896" y="3337560"/>
            <a:ext cx="2240280" cy="228600"/>
          </a:xfrm>
          <a:prstGeom prst="rect">
            <a:avLst/>
          </a:prstGeom>
          <a:noFill/>
        </p:spPr>
        <p:txBody>
          <a:bodyPr wrap="square" lIns="54864" rIns="54864" tIns="54864" bIns="54864" anchor="t">
            <a:spAutoFit/>
          </a:bodyPr>
          <a:lstStyle/>
          <a:p>
            <a:pPr algn="ctr">
              <a:spcAft>
                <a:spcPts val="500"/>
              </a:spcAft>
              <a:defRPr sz="1200" b="1">
                <a:solidFill>
                  <a:srgbClr val="57E2A4"/>
                </a:solidFill>
                <a:latin typeface="Aptos"/>
              </a:defRPr>
            </a:pPr>
            <a:r>
              <a:t>GUARDRAILS</a:t>
            </a:r>
          </a:p>
        </p:txBody>
      </p:sp>
      <p:sp>
        <p:nvSpPr>
          <p:cNvPr id="26" name="TextBox 25"/>
          <p:cNvSpPr txBox="1"/>
          <p:nvPr/>
        </p:nvSpPr>
        <p:spPr>
          <a:xfrm>
            <a:off x="9454896" y="3611880"/>
            <a:ext cx="2240280" cy="201168"/>
          </a:xfrm>
          <a:prstGeom prst="rect">
            <a:avLst/>
          </a:prstGeom>
          <a:noFill/>
        </p:spPr>
        <p:txBody>
          <a:bodyPr wrap="square" lIns="54864" rIns="54864" tIns="54864" bIns="54864" anchor="t">
            <a:spAutoFit/>
          </a:bodyPr>
          <a:lstStyle/>
          <a:p>
            <a:pPr algn="ctr">
              <a:spcAft>
                <a:spcPts val="500"/>
              </a:spcAft>
              <a:defRPr sz="1000" b="0">
                <a:solidFill>
                  <a:srgbClr val="F6F8FF"/>
                </a:solidFill>
                <a:latin typeface="Aptos"/>
              </a:defRPr>
            </a:pPr>
            <a:r>
              <a:t>Testing + governance</a:t>
            </a:r>
          </a:p>
        </p:txBody>
      </p:sp>
      <p:sp>
        <p:nvSpPr>
          <p:cNvPr id="27" name="Rounded Rectangle 26"/>
          <p:cNvSpPr/>
          <p:nvPr/>
        </p:nvSpPr>
        <p:spPr>
          <a:xfrm>
            <a:off x="914400" y="4663440"/>
            <a:ext cx="10241280" cy="685800"/>
          </a:xfrm>
          <a:prstGeom prst="roundRect">
            <a:avLst/>
          </a:prstGeom>
          <a:solidFill>
            <a:srgbClr val="172B53"/>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882896"/>
            <a:ext cx="9875520" cy="228600"/>
          </a:xfrm>
          <a:prstGeom prst="rect">
            <a:avLst/>
          </a:prstGeom>
          <a:noFill/>
        </p:spPr>
        <p:txBody>
          <a:bodyPr wrap="square" lIns="54864" rIns="54864" tIns="54864" bIns="54864" anchor="t">
            <a:spAutoFit/>
          </a:bodyPr>
          <a:lstStyle/>
          <a:p>
            <a:pPr algn="ctr">
              <a:spcAft>
                <a:spcPts val="500"/>
              </a:spcAft>
              <a:defRPr sz="1500" b="1">
                <a:solidFill>
                  <a:srgbClr val="FFAD4B"/>
                </a:solidFill>
                <a:latin typeface="Aptos"/>
              </a:defRPr>
            </a:pPr>
            <a:r>
              <a:t>BUILD • TEST • DEPLOY • MONITOR • GOVERN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E23"/>
        </a:solidFill>
        <a:effectLst/>
      </p:bgPr>
    </p:bg>
    <p:spTree>
      <p:nvGrpSpPr>
        <p:cNvPr id="1" name=""/>
        <p:cNvGrpSpPr/>
        <p:nvPr/>
      </p:nvGrpSpPr>
      <p:grpSpPr/>
      <p:sp>
        <p:nvSpPr>
          <p:cNvPr id="2" name="TextBox 1"/>
          <p:cNvSpPr txBox="1"/>
          <p:nvPr/>
        </p:nvSpPr>
        <p:spPr>
          <a:xfrm>
            <a:off x="502920" y="292608"/>
            <a:ext cx="5943600" cy="228600"/>
          </a:xfrm>
          <a:prstGeom prst="rect">
            <a:avLst/>
          </a:prstGeom>
          <a:noFill/>
        </p:spPr>
        <p:txBody>
          <a:bodyPr wrap="square" lIns="54864" rIns="54864" tIns="54864" bIns="54864" anchor="t">
            <a:spAutoFit/>
          </a:bodyPr>
          <a:lstStyle/>
          <a:p>
            <a:pPr>
              <a:spcAft>
                <a:spcPts val="500"/>
              </a:spcAft>
              <a:defRPr sz="1000" b="1">
                <a:solidFill>
                  <a:srgbClr val="37DCF4"/>
                </a:solidFill>
                <a:latin typeface="Aptos"/>
              </a:defRPr>
            </a:pPr>
            <a:r>
              <a:t>MODULE 9  /  YOUR FIRST ACTION</a:t>
            </a:r>
          </a:p>
        </p:txBody>
      </p:sp>
      <p:sp>
        <p:nvSpPr>
          <p:cNvPr id="3" name="TextBox 2"/>
          <p:cNvSpPr txBox="1"/>
          <p:nvPr/>
        </p:nvSpPr>
        <p:spPr>
          <a:xfrm>
            <a:off x="502920" y="658368"/>
            <a:ext cx="11155680" cy="566928"/>
          </a:xfrm>
          <a:prstGeom prst="rect">
            <a:avLst/>
          </a:prstGeom>
          <a:noFill/>
        </p:spPr>
        <p:txBody>
          <a:bodyPr wrap="square" lIns="54864" rIns="54864" tIns="54864" bIns="54864" anchor="t">
            <a:spAutoFit/>
          </a:bodyPr>
          <a:lstStyle/>
          <a:p>
            <a:pPr>
              <a:spcAft>
                <a:spcPts val="500"/>
              </a:spcAft>
              <a:defRPr sz="2800" b="1">
                <a:solidFill>
                  <a:srgbClr val="F6F8FF"/>
                </a:solidFill>
                <a:latin typeface="Aptos"/>
              </a:defRPr>
            </a:pPr>
            <a:r>
              <a:t>Turn one repeatable task into an agent brief</a:t>
            </a:r>
          </a:p>
        </p:txBody>
      </p:sp>
      <p:sp>
        <p:nvSpPr>
          <p:cNvPr id="4" name="TextBox 3"/>
          <p:cNvSpPr txBox="1"/>
          <p:nvPr/>
        </p:nvSpPr>
        <p:spPr>
          <a:xfrm>
            <a:off x="530352" y="1280160"/>
            <a:ext cx="10972800" cy="347472"/>
          </a:xfrm>
          <a:prstGeom prst="rect">
            <a:avLst/>
          </a:prstGeom>
          <a:noFill/>
        </p:spPr>
        <p:txBody>
          <a:bodyPr wrap="square" lIns="54864" rIns="54864" tIns="54864" bIns="54864" anchor="t">
            <a:spAutoFit/>
          </a:bodyPr>
          <a:lstStyle/>
          <a:p>
            <a:pPr>
              <a:spcAft>
                <a:spcPts val="500"/>
              </a:spcAft>
              <a:defRPr sz="1300" b="0">
                <a:solidFill>
                  <a:srgbClr val="ABBBD8"/>
                </a:solidFill>
                <a:latin typeface="Aptos"/>
              </a:defRPr>
            </a:pPr>
            <a:r>
              <a:t>Start small. Make the goal measurable. Keep a human in control of consequential actions.</a:t>
            </a:r>
          </a:p>
        </p:txBody>
      </p:sp>
      <p:sp>
        <p:nvSpPr>
          <p:cNvPr id="5" name="TextBox 4"/>
          <p:cNvSpPr txBox="1"/>
          <p:nvPr/>
        </p:nvSpPr>
        <p:spPr>
          <a:xfrm>
            <a:off x="411480" y="6510528"/>
            <a:ext cx="5029200" cy="164592"/>
          </a:xfrm>
          <a:prstGeom prst="rect">
            <a:avLst/>
          </a:prstGeom>
          <a:noFill/>
        </p:spPr>
        <p:txBody>
          <a:bodyPr wrap="square" lIns="54864" rIns="54864" tIns="54864" bIns="54864" anchor="t">
            <a:spAutoFit/>
          </a:bodyPr>
          <a:lstStyle/>
          <a:p>
            <a:pPr>
              <a:spcAft>
                <a:spcPts val="500"/>
              </a:spcAft>
              <a:defRPr sz="800" b="1">
                <a:solidFill>
                  <a:srgbClr val="ABBBD8"/>
                </a:solidFill>
                <a:latin typeface="Aptos"/>
              </a:defRPr>
            </a:pPr>
            <a:r>
              <a:t>FROM PROMPT TO AGENTIC AI  •  MODULE 9</a:t>
            </a:r>
          </a:p>
        </p:txBody>
      </p:sp>
      <p:sp>
        <p:nvSpPr>
          <p:cNvPr id="6" name="TextBox 5"/>
          <p:cNvSpPr txBox="1"/>
          <p:nvPr/>
        </p:nvSpPr>
        <p:spPr>
          <a:xfrm>
            <a:off x="9692640" y="6510528"/>
            <a:ext cx="2103120" cy="164592"/>
          </a:xfrm>
          <a:prstGeom prst="rect">
            <a:avLst/>
          </a:prstGeom>
          <a:noFill/>
        </p:spPr>
        <p:txBody>
          <a:bodyPr wrap="square" lIns="54864" rIns="54864" tIns="54864" bIns="54864" anchor="t">
            <a:spAutoFit/>
          </a:bodyPr>
          <a:lstStyle/>
          <a:p>
            <a:pPr algn="r">
              <a:spcAft>
                <a:spcPts val="500"/>
              </a:spcAft>
              <a:defRPr sz="800" b="1">
                <a:solidFill>
                  <a:srgbClr val="37DCF4"/>
                </a:solidFill>
                <a:latin typeface="Aptos"/>
              </a:defRPr>
            </a:pPr>
            <a:r>
              <a:t>BUILD • TEST • LEARN</a:t>
            </a:r>
          </a:p>
        </p:txBody>
      </p:sp>
      <p:sp>
        <p:nvSpPr>
          <p:cNvPr id="7" name="Rounded Rectangle 6"/>
          <p:cNvSpPr/>
          <p:nvPr/>
        </p:nvSpPr>
        <p:spPr>
          <a:xfrm>
            <a:off x="914400" y="1965960"/>
            <a:ext cx="10332720" cy="2468880"/>
          </a:xfrm>
          <a:prstGeom prst="roundRect">
            <a:avLst/>
          </a:prstGeom>
          <a:solidFill>
            <a:srgbClr val="0F1D3E"/>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240280"/>
            <a:ext cx="9692640" cy="274320"/>
          </a:xfrm>
          <a:prstGeom prst="rect">
            <a:avLst/>
          </a:prstGeom>
          <a:noFill/>
        </p:spPr>
        <p:txBody>
          <a:bodyPr wrap="square" lIns="54864" rIns="54864" tIns="54864" bIns="54864" anchor="t">
            <a:spAutoFit/>
          </a:bodyPr>
          <a:lstStyle/>
          <a:p>
            <a:pPr algn="ctr">
              <a:spcAft>
                <a:spcPts val="500"/>
              </a:spcAft>
              <a:defRPr sz="1200" b="1">
                <a:solidFill>
                  <a:srgbClr val="37DCF4"/>
                </a:solidFill>
                <a:latin typeface="Aptos"/>
              </a:defRPr>
            </a:pPr>
            <a:r>
              <a:t>YOUR 2-SENTENCE SYSTEM PROMPT</a:t>
            </a:r>
          </a:p>
        </p:txBody>
      </p:sp>
      <p:sp>
        <p:nvSpPr>
          <p:cNvPr id="9" name="TextBox 8"/>
          <p:cNvSpPr txBox="1"/>
          <p:nvPr/>
        </p:nvSpPr>
        <p:spPr>
          <a:xfrm>
            <a:off x="1417320" y="2743200"/>
            <a:ext cx="9326880" cy="1097280"/>
          </a:xfrm>
          <a:prstGeom prst="rect">
            <a:avLst/>
          </a:prstGeom>
          <a:noFill/>
        </p:spPr>
        <p:txBody>
          <a:bodyPr wrap="square" lIns="54864" rIns="54864" tIns="54864" bIns="54864" anchor="t">
            <a:spAutoFit/>
          </a:bodyPr>
          <a:lstStyle/>
          <a:p>
            <a:pPr algn="ctr">
              <a:spcAft>
                <a:spcPts val="500"/>
              </a:spcAft>
              <a:defRPr sz="1800" b="0">
                <a:solidFill>
                  <a:srgbClr val="F6F8FF"/>
                </a:solidFill>
                <a:latin typeface="Aptos"/>
              </a:defRPr>
            </a:pPr>
            <a:r>
              <a:t>“You are a [role]. Your goal is to [specific outcome].</a:t>
            </a:r>
          </a:p>
          <a:p>
            <a:pPr algn="ctr">
              <a:spcAft>
                <a:spcPts val="500"/>
              </a:spcAft>
              <a:defRPr sz="1800" b="0">
                <a:solidFill>
                  <a:srgbClr val="F6F8FF"/>
                </a:solidFill>
                <a:latin typeface="Aptos"/>
              </a:defRPr>
            </a:pPr>
            <a:r>
              <a:t>Use [approved information/tools], follow [key rules], and ask for human approval before [consequential action].”</a:t>
            </a:r>
          </a:p>
        </p:txBody>
      </p:sp>
      <p:sp>
        <p:nvSpPr>
          <p:cNvPr id="10" name="Rounded Rectangle 9"/>
          <p:cNvSpPr/>
          <p:nvPr/>
        </p:nvSpPr>
        <p:spPr>
          <a:xfrm>
            <a:off x="1965960" y="4892040"/>
            <a:ext cx="1828800" cy="347472"/>
          </a:xfrm>
          <a:prstGeom prst="roundRect">
            <a:avLst/>
          </a:prstGeom>
          <a:solidFill>
            <a:srgbClr val="172B53"/>
          </a:solidFill>
          <a:ln w="15240">
            <a:solidFill>
              <a:srgbClr val="37DC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 y="4965192"/>
            <a:ext cx="1755648" cy="164592"/>
          </a:xfrm>
          <a:prstGeom prst="rect">
            <a:avLst/>
          </a:prstGeom>
          <a:noFill/>
        </p:spPr>
        <p:txBody>
          <a:bodyPr wrap="square" lIns="54864" rIns="54864" tIns="54864" bIns="54864" anchor="t">
            <a:spAutoFit/>
          </a:bodyPr>
          <a:lstStyle/>
          <a:p>
            <a:pPr algn="ctr">
              <a:spcAft>
                <a:spcPts val="500"/>
              </a:spcAft>
              <a:defRPr sz="900" b="1">
                <a:solidFill>
                  <a:srgbClr val="37DCF4"/>
                </a:solidFill>
                <a:latin typeface="Aptos"/>
              </a:defRPr>
            </a:pPr>
            <a:r>
              <a:t>CHOOSE A TASK</a:t>
            </a:r>
          </a:p>
        </p:txBody>
      </p:sp>
      <p:sp>
        <p:nvSpPr>
          <p:cNvPr id="12" name="Rounded Rectangle 11"/>
          <p:cNvSpPr/>
          <p:nvPr/>
        </p:nvSpPr>
        <p:spPr>
          <a:xfrm>
            <a:off x="4069080" y="4892040"/>
            <a:ext cx="1828800" cy="347472"/>
          </a:xfrm>
          <a:prstGeom prst="roundRect">
            <a:avLst/>
          </a:prstGeom>
          <a:solidFill>
            <a:srgbClr val="172B53"/>
          </a:solidFill>
          <a:ln w="15240">
            <a:solidFill>
              <a:srgbClr val="9D6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05656" y="4965192"/>
            <a:ext cx="1755648" cy="164592"/>
          </a:xfrm>
          <a:prstGeom prst="rect">
            <a:avLst/>
          </a:prstGeom>
          <a:noFill/>
        </p:spPr>
        <p:txBody>
          <a:bodyPr wrap="square" lIns="54864" rIns="54864" tIns="54864" bIns="54864" anchor="t">
            <a:spAutoFit/>
          </a:bodyPr>
          <a:lstStyle/>
          <a:p>
            <a:pPr algn="ctr">
              <a:spcAft>
                <a:spcPts val="500"/>
              </a:spcAft>
              <a:defRPr sz="900" b="1">
                <a:solidFill>
                  <a:srgbClr val="9D6FFF"/>
                </a:solidFill>
                <a:latin typeface="Aptos"/>
              </a:defRPr>
            </a:pPr>
            <a:r>
              <a:t>WRITE THE GOAL</a:t>
            </a:r>
          </a:p>
        </p:txBody>
      </p:sp>
      <p:sp>
        <p:nvSpPr>
          <p:cNvPr id="14" name="Rounded Rectangle 13"/>
          <p:cNvSpPr/>
          <p:nvPr/>
        </p:nvSpPr>
        <p:spPr>
          <a:xfrm>
            <a:off x="6172200" y="4892040"/>
            <a:ext cx="1828800" cy="347472"/>
          </a:xfrm>
          <a:prstGeom prst="roundRect">
            <a:avLst/>
          </a:prstGeom>
          <a:solidFill>
            <a:srgbClr val="172B53"/>
          </a:solidFill>
          <a:ln w="15240">
            <a:solidFill>
              <a:srgbClr val="FFAD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8776" y="4965192"/>
            <a:ext cx="1755648" cy="164592"/>
          </a:xfrm>
          <a:prstGeom prst="rect">
            <a:avLst/>
          </a:prstGeom>
          <a:noFill/>
        </p:spPr>
        <p:txBody>
          <a:bodyPr wrap="square" lIns="54864" rIns="54864" tIns="54864" bIns="54864" anchor="t">
            <a:spAutoFit/>
          </a:bodyPr>
          <a:lstStyle/>
          <a:p>
            <a:pPr algn="ctr">
              <a:spcAft>
                <a:spcPts val="500"/>
              </a:spcAft>
              <a:defRPr sz="900" b="1">
                <a:solidFill>
                  <a:srgbClr val="FFAD4B"/>
                </a:solidFill>
                <a:latin typeface="Aptos"/>
              </a:defRPr>
            </a:pPr>
            <a:r>
              <a:t>ADD A GUARDRAIL</a:t>
            </a:r>
          </a:p>
        </p:txBody>
      </p:sp>
      <p:sp>
        <p:nvSpPr>
          <p:cNvPr id="16" name="Rounded Rectangle 15"/>
          <p:cNvSpPr/>
          <p:nvPr/>
        </p:nvSpPr>
        <p:spPr>
          <a:xfrm>
            <a:off x="8275320" y="4892040"/>
            <a:ext cx="1828800" cy="347472"/>
          </a:xfrm>
          <a:prstGeom prst="roundRect">
            <a:avLst/>
          </a:prstGeom>
          <a:solidFill>
            <a:srgbClr val="172B53"/>
          </a:solidFill>
          <a:ln w="15240">
            <a:solidFill>
              <a:srgbClr val="57E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4965192"/>
            <a:ext cx="1755648" cy="164592"/>
          </a:xfrm>
          <a:prstGeom prst="rect">
            <a:avLst/>
          </a:prstGeom>
          <a:noFill/>
        </p:spPr>
        <p:txBody>
          <a:bodyPr wrap="square" lIns="54864" rIns="54864" tIns="54864" bIns="54864" anchor="t">
            <a:spAutoFit/>
          </a:bodyPr>
          <a:lstStyle/>
          <a:p>
            <a:pPr algn="ctr">
              <a:spcAft>
                <a:spcPts val="500"/>
              </a:spcAft>
              <a:defRPr sz="900" b="1">
                <a:solidFill>
                  <a:srgbClr val="57E2A4"/>
                </a:solidFill>
                <a:latin typeface="Aptos"/>
              </a:defRPr>
            </a:pPr>
            <a:r>
              <a:t>TEST ONE EXAMPLE</a:t>
            </a:r>
          </a:p>
        </p:txBody>
      </p:sp>
      <p:sp>
        <p:nvSpPr>
          <p:cNvPr id="18" name="TextBox 17"/>
          <p:cNvSpPr txBox="1"/>
          <p:nvPr/>
        </p:nvSpPr>
        <p:spPr>
          <a:xfrm>
            <a:off x="1097280" y="5623560"/>
            <a:ext cx="9966960" cy="274320"/>
          </a:xfrm>
          <a:prstGeom prst="rect">
            <a:avLst/>
          </a:prstGeom>
          <a:noFill/>
        </p:spPr>
        <p:txBody>
          <a:bodyPr wrap="square" lIns="54864" rIns="54864" tIns="54864" bIns="54864" anchor="t">
            <a:spAutoFit/>
          </a:bodyPr>
          <a:lstStyle/>
          <a:p>
            <a:pPr algn="ctr">
              <a:spcAft>
                <a:spcPts val="500"/>
              </a:spcAft>
              <a:defRPr sz="1300" b="1">
                <a:solidFill>
                  <a:srgbClr val="57E2A4"/>
                </a:solidFill>
                <a:latin typeface="Aptos"/>
              </a:defRPr>
            </a:pPr>
            <a:r>
              <a:t>Homework: bring your prompt and one test result to the next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Prompt to Agentic AI — Complete 9-Module Training</dc:title>
  <dc:subject>Complete presentation with visuals, speaker notes, scripts, timings, and practical engagement activities</dc:subject>
  <dc:creator>OpenAI</dc:creator>
  <cp:keywords>Agentic AI, AI agents, prompt engineering, context engineering, LangGraph, reflection, multi-agent, governance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