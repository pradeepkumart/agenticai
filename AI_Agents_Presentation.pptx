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3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3137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slide. Introduce the journey from Developer to Agentic Architect — set expectations that this deck moves from Generative AI fundamentals to full Agentic AI architecture.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Think of Generative AI as an expert consultant: you ask for a plan, it writes you a report, and the interaction ends. It has no memory, and it never acts unless prompted.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system only reacts. It waits for a prompt, uses pattern matching to generate content, and then stops — it doesn't pursue any further goal.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Notice that at every single step, a human is driving the process. GenAI assists, but never acts independently.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key shift: instead of a single response, the agent produces an executable multi-step PLAN to achieve the goal 'Book my trip.'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agent operates in a continuous loop — perceiving its environment, planning next steps, acting, and reflecting — rather than stopping after one response.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Key: The Agent writes the JSON body automatically based on your schema — no manual request construction needed.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traces the complete end-to-end flow: from the user's request, through the agent's reasoning, to tool/MCP server calls, and finally to the underlying data source.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Context Engineering is about carefully managing the information window an agent uses to reason and act — essential for reliable agentic behavior.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Naive RAG is a simple linear pipeline: query, retrieve, generate. It cannot reason, reflect, or adapt mid-process.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Traditional RAG is simple but limited — it's a single-pass retrieval, which can't handle complex, multi-step reasoning. This motivates Agentic RAG.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walk through what actually happens step-by-step when an AI Agent connects to your tools via MCP: discovery, authentication, invocation, and response.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highlights an architectural gap: while A2A and MCP standardize agent-to-agent and agent-to-tool communication, the human-facing UI layer (AG-UI) is a separate, often overlooked concern. [1]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00E5FF"/>
                </a:solidFill>
              </a:rPr>
              <a:t>From Theory to Practice:
From Developer to Agentic Architect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B0C4DE"/>
                </a:solidFill>
              </a:rPr>
              <a:t>Let's get started!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Phase 1: Generative AI ("The Expert Consultant")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One-shot: entire lifecycle is a single Request → Response loop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Passive: a reactive system — it only responds, never initiates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Stateless: no memory of past interactions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0" y="2286000"/>
            <a:ext cx="1371600" cy="91440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You</a:t>
            </a:r>
          </a:p>
        </p:txBody>
      </p:sp>
      <p:sp>
        <p:nvSpPr>
          <p:cNvPr id="5" name="Right Arrow 4"/>
          <p:cNvSpPr/>
          <p:nvPr/>
        </p:nvSpPr>
        <p:spPr>
          <a:xfrm>
            <a:off x="8229600" y="2514600"/>
            <a:ext cx="91440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326880" y="2103120"/>
            <a:ext cx="1645920" cy="1280160"/>
          </a:xfrm>
          <a:prstGeom prst="roundRect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AI
(Consultant)</a:t>
            </a:r>
          </a:p>
        </p:txBody>
      </p:sp>
      <p:sp>
        <p:nvSpPr>
          <p:cNvPr id="7" name="Right Arrow 6"/>
          <p:cNvSpPr/>
          <p:nvPr/>
        </p:nvSpPr>
        <p:spPr>
          <a:xfrm rot="10800000">
            <a:off x="8229600" y="3657600"/>
            <a:ext cx="91440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4206240"/>
            <a:ext cx="4114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B0C4DE"/>
                </a:solidFill>
              </a:rPr>
              <a:t>No memory. No initiative. One report, then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Defining Generative AI: The Reactive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Role: A Reactive System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Trigger: Waits for a user Prompt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Function: To Generate content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Mechanism: Sophisticated pattern matching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Output: Text, images, code, audio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Key Limit: Its work ends at generation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0" y="1645920"/>
            <a:ext cx="2286000" cy="109728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"Write a story about
a journey to Mars"</a:t>
            </a:r>
          </a:p>
        </p:txBody>
      </p:sp>
      <p:sp>
        <p:nvSpPr>
          <p:cNvPr id="5" name="Right Arrow 4"/>
          <p:cNvSpPr/>
          <p:nvPr/>
        </p:nvSpPr>
        <p:spPr>
          <a:xfrm>
            <a:off x="9052560" y="2011680"/>
            <a:ext cx="73152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75520" y="1645920"/>
            <a:ext cx="1828800" cy="1097280"/>
          </a:xfrm>
          <a:prstGeom prst="roundRect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AI
(Pattern Matching)</a:t>
            </a:r>
          </a:p>
        </p:txBody>
      </p:sp>
      <p:sp>
        <p:nvSpPr>
          <p:cNvPr id="7" name="Right Arrow 6"/>
          <p:cNvSpPr/>
          <p:nvPr/>
        </p:nvSpPr>
        <p:spPr>
          <a:xfrm rot="5400000">
            <a:off x="9052560" y="3291840"/>
            <a:ext cx="73152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ctagon 7"/>
          <p:cNvSpPr/>
          <p:nvPr/>
        </p:nvSpPr>
        <p:spPr>
          <a:xfrm>
            <a:off x="8778240" y="3566160"/>
            <a:ext cx="1280160" cy="914400"/>
          </a:xfrm>
          <a:prstGeom prst="octagon">
            <a:avLst/>
          </a:prstGeom>
          <a:solidFill>
            <a:srgbClr val="C030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DEAD
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Application of Generative AI (The "Curator")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Scenario: A YouTuber creating a video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Task: Review scripts, suggest thumbnail concepts, generate background music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931920"/>
            <a:ext cx="2377440" cy="11887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000000"/>
                </a:solidFill>
              </a:rPr>
              <a:t>1. Human writes
a script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71800" y="4343400"/>
            <a:ext cx="45720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29000" y="3931920"/>
            <a:ext cx="2377440" cy="11887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000000"/>
                </a:solidFill>
              </a:rPr>
              <a:t>2. Feeds to GenAI
→ suggests edits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52160" y="4343400"/>
            <a:ext cx="45720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3931920"/>
            <a:ext cx="2377440" cy="11887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000000"/>
                </a:solidFill>
              </a:rPr>
              <a:t>3. Refines prompt
→ suggests thumbnails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32520" y="4343400"/>
            <a:ext cx="45720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89720" y="3931920"/>
            <a:ext cx="2377440" cy="11887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000000"/>
                </a:solidFill>
              </a:rPr>
              <a:t>4. Human selects
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4864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i="1">
                <a:solidFill>
                  <a:srgbClr val="FF6B35"/>
                </a:solidFill>
              </a:rPr>
              <a:t>At each step, there is a human.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Agent (With a Plan)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•  Input: "Book my trip"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onsolas"/>
              </a:rPr>
              <a:t>1. find_available_flights(destination='London')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onsolas"/>
              </a:rPr>
              <a:t>2. find_hotels(destination='London', dates=...)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onsolas"/>
              </a:rPr>
              <a:t>3. book_flight(flight_id=...)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onsolas"/>
              </a:rPr>
              <a:t>4. book_hotel(hotel_id=...)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onsolas"/>
              </a:rPr>
              <a:t>5. send_confirmation_email(user, details)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ChatGPT Agent with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120640" y="1463040"/>
            <a:ext cx="1645920" cy="7315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Perceive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3291840"/>
            <a:ext cx="1645920" cy="7315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0" y="5120640"/>
            <a:ext cx="1645920" cy="7315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3291840"/>
            <a:ext cx="1645920" cy="7315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Reflect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0" y="1828800"/>
            <a:ext cx="1828800" cy="1828800"/>
          </a:xfrm>
          <a:prstGeom prst="bentConnector3">
            <a:avLst/>
          </a:prstGeom>
          <a:ln w="31750">
            <a:solidFill>
              <a:srgbClr val="FF6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943600" y="3657600"/>
            <a:ext cx="1828800" cy="1828800"/>
          </a:xfrm>
          <a:prstGeom prst="bentConnector3">
            <a:avLst/>
          </a:prstGeom>
          <a:ln w="31750">
            <a:solidFill>
              <a:srgbClr val="FF6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4114800" y="3657600"/>
            <a:ext cx="1828800" cy="1828800"/>
          </a:xfrm>
          <a:prstGeom prst="bentConnector3">
            <a:avLst/>
          </a:prstGeom>
          <a:ln w="31750">
            <a:solidFill>
              <a:srgbClr val="FF6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114800" y="1828800"/>
            <a:ext cx="1828800" cy="1828800"/>
          </a:xfrm>
          <a:prstGeom prst="bentConnector3">
            <a:avLst/>
          </a:prstGeom>
          <a:ln w="31750">
            <a:solidFill>
              <a:srgbClr val="FF6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Step 3: The Order (Tool Execution)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743200"/>
            <a:ext cx="2011680" cy="109728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Agent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017520" y="3108960"/>
            <a:ext cx="109728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206240" y="2651760"/>
            <a:ext cx="2377440" cy="1280160"/>
          </a:xfrm>
          <a:prstGeom prst="roundRect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JSON Body
(auto-generated)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675120" y="3108960"/>
            <a:ext cx="109728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863840" y="2743200"/>
            <a:ext cx="2011680" cy="109728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Tool /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The E2E Flow: From User to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926080"/>
            <a:ext cx="2194560" cy="109728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71800" y="3337560"/>
            <a:ext cx="45720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74720" y="2926080"/>
            <a:ext cx="2194560" cy="109728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Agent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15000" y="3337560"/>
            <a:ext cx="45720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2194560" cy="109728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Tool/MCP Server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458200" y="3337560"/>
            <a:ext cx="45720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961120" y="2926080"/>
            <a:ext cx="2194560" cy="109728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Data 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Introduction - Context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Managing what information the agent 'sees' at each step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Critical for long-running agentic workflows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Determines reasoning quality and tool-call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The "Naive" RAG Architecture: A Passive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2926080"/>
            <a:ext cx="2011680" cy="109728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Query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886200" y="3337560"/>
            <a:ext cx="54864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0" y="2926080"/>
            <a:ext cx="2011680" cy="109728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Retrieve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629400" y="3337560"/>
            <a:ext cx="548640" cy="365760"/>
          </a:xfrm>
          <a:prstGeom prst="right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0" y="2926080"/>
            <a:ext cx="2011680" cy="109728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Generate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3891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i="1">
                <a:solidFill>
                  <a:srgbClr val="FF6B35"/>
                </a:solidFill>
              </a:rPr>
              <a:t>⚠ Passive — single pass, no reasoning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The Core Problem: RAG is "Passive and Dumb"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The RAG pipeline cannot think for itself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No multi-step reasoning or self-correction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 Leads to the need for Agentic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The MCP Lifecycle: A 4-Step Handshake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120640" y="1463040"/>
            <a:ext cx="1645920" cy="7315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Discover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3291840"/>
            <a:ext cx="1645920" cy="7315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Authenticate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0" y="5120640"/>
            <a:ext cx="1645920" cy="7315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Invoke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3291840"/>
            <a:ext cx="1645920" cy="73152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Respond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0" y="1828800"/>
            <a:ext cx="1828800" cy="1828800"/>
          </a:xfrm>
          <a:prstGeom prst="bentConnector3">
            <a:avLst/>
          </a:prstGeom>
          <a:ln w="31750">
            <a:solidFill>
              <a:srgbClr val="FF6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943600" y="3657600"/>
            <a:ext cx="1828800" cy="1828800"/>
          </a:xfrm>
          <a:prstGeom prst="bentConnector3">
            <a:avLst/>
          </a:prstGeom>
          <a:ln w="31750">
            <a:solidFill>
              <a:srgbClr val="FF6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4114800" y="3657600"/>
            <a:ext cx="1828800" cy="1828800"/>
          </a:xfrm>
          <a:prstGeom prst="bentConnector3">
            <a:avLst/>
          </a:prstGeom>
          <a:ln w="31750">
            <a:solidFill>
              <a:srgbClr val="FF6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114800" y="1828800"/>
            <a:ext cx="1828800" cy="1828800"/>
          </a:xfrm>
          <a:prstGeom prst="bentConnector3">
            <a:avLst/>
          </a:prstGeom>
          <a:ln w="31750">
            <a:solidFill>
              <a:srgbClr val="FF6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E5FF"/>
                </a:solidFill>
              </a:rPr>
              <a:t>AG-UI vs. A2A and MCP: The "Frontend" Gap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86000"/>
            <a:ext cx="2743200" cy="137160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AG-UI
(User Interface)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2286000"/>
            <a:ext cx="2743200" cy="1371600"/>
          </a:xfrm>
          <a:prstGeom prst="roundRect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A2A
(Agent-to-Agent)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95360" y="2286000"/>
            <a:ext cx="2743200" cy="1371600"/>
          </a:xfrm>
          <a:prstGeom prst="roundRect">
            <a:avLst/>
          </a:prstGeom>
          <a:solidFill>
            <a:srgbClr val="00E5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MCP
(Model Context Protocol)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i="1">
                <a:solidFill>
                  <a:srgbClr val="B0C4DE"/>
                </a:solidFill>
              </a:rPr>
              <a:t>Gap: AG-UI connects humans to agents; A2A and MCP handle agent/tool communication — but the frontend layer is often missing.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0C4DE"/>
                </a:solidFill>
              </a:rPr>
              <a:t>Pradeep Kumar Thottathil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912</Words>
  <Application>Microsoft Office PowerPoint</Application>
  <PresentationFormat>Widescreen</PresentationFormat>
  <Paragraphs>97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THOTTATHIL, PRADEEP</dc:creator>
  <cp:keywords/>
  <dc:description>generated using python-pptx</dc:description>
  <cp:lastModifiedBy>THOTTATHIL, PRADEEP</cp:lastModifiedBy>
  <cp:revision>2</cp:revision>
  <dcterms:created xsi:type="dcterms:W3CDTF">2013-01-27T09:14:16Z</dcterms:created>
  <dcterms:modified xsi:type="dcterms:W3CDTF">2026-10-15T11:29:38Z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ad3be33-4108-4738-9e07-d8656a181486_Enabled">
    <vt:lpwstr>true</vt:lpwstr>
  </property>
  <property fmtid="{D5CDD505-2E9C-101B-9397-08002B2CF9AE}" pid="3" name="MSIP_Label_dad3be33-4108-4738-9e07-d8656a181486_SetDate">
    <vt:lpwstr>2026-10-15T11:29:38Z</vt:lpwstr>
  </property>
  <property fmtid="{D5CDD505-2E9C-101B-9397-08002B2CF9AE}" pid="4" name="MSIP_Label_dad3be33-4108-4738-9e07-d8656a181486_Method">
    <vt:lpwstr>Privileged</vt:lpwstr>
  </property>
  <property fmtid="{D5CDD505-2E9C-101B-9397-08002B2CF9AE}" pid="5" name="MSIP_Label_dad3be33-4108-4738-9e07-d8656a181486_Name">
    <vt:lpwstr>Public No Visual Label</vt:lpwstr>
  </property>
  <property fmtid="{D5CDD505-2E9C-101B-9397-08002B2CF9AE}" pid="6" name="MSIP_Label_dad3be33-4108-4738-9e07-d8656a181486_SiteId">
    <vt:lpwstr>945c199a-83a2-4e80-9f8c-5a91be5752dd</vt:lpwstr>
  </property>
  <property fmtid="{D5CDD505-2E9C-101B-9397-08002B2CF9AE}" pid="7" name="MSIP_Label_dad3be33-4108-4738-9e07-d8656a181486_ActionId">
    <vt:lpwstr>8acbbf4d-9c1a-4f89-8131-a2fbca38e5c1</vt:lpwstr>
  </property>
  <property fmtid="{D5CDD505-2E9C-101B-9397-08002B2CF9AE}" pid="8" name="MSIP_Label_dad3be33-4108-4738-9e07-d8656a181486_ContentBits">
    <vt:lpwstr>0</vt:lpwstr>
  </property>
  <property fmtid="{D5CDD505-2E9C-101B-9397-08002B2CF9AE}" pid="9" name="MSIP_Label_dad3be33-4108-4738-9e07-d8656a181486_Tag">
    <vt:lpwstr>10, 0, 1, 1</vt:lpwstr>
  </property>
</Properties>
</file>